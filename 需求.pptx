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8" r:id="rId3"/>
    <p:sldId id="296" r:id="rId4"/>
    <p:sldId id="256" r:id="rId5"/>
    <p:sldId id="257" r:id="rId6"/>
    <p:sldId id="297" r:id="rId7"/>
    <p:sldId id="268" r:id="rId8"/>
    <p:sldId id="258" r:id="rId9"/>
    <p:sldId id="261" r:id="rId10"/>
    <p:sldId id="262" r:id="rId11"/>
    <p:sldId id="263" r:id="rId12"/>
    <p:sldId id="264" r:id="rId13"/>
    <p:sldId id="266" r:id="rId14"/>
    <p:sldId id="269" r:id="rId15"/>
    <p:sldId id="278" r:id="rId16"/>
    <p:sldId id="270" r:id="rId17"/>
    <p:sldId id="271" r:id="rId18"/>
    <p:sldId id="273" r:id="rId19"/>
    <p:sldId id="274" r:id="rId20"/>
    <p:sldId id="275" r:id="rId21"/>
    <p:sldId id="276" r:id="rId22"/>
    <p:sldId id="290" r:id="rId23"/>
    <p:sldId id="292" r:id="rId24"/>
    <p:sldId id="293" r:id="rId25"/>
    <p:sldId id="295" r:id="rId26"/>
    <p:sldId id="279" r:id="rId27"/>
    <p:sldId id="265" r:id="rId28"/>
    <p:sldId id="280" r:id="rId29"/>
    <p:sldId id="281" r:id="rId30"/>
    <p:sldId id="282" r:id="rId31"/>
    <p:sldId id="283" r:id="rId32"/>
    <p:sldId id="286" r:id="rId33"/>
    <p:sldId id="299" r:id="rId34"/>
    <p:sldId id="285" r:id="rId35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43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0"/>
        <p:guide pos="43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11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5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7.xml"/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0.xml"/><Relationship Id="rId3" Type="http://schemas.openxmlformats.org/officeDocument/2006/relationships/image" Target="../media/image3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3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4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5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8.xml"/><Relationship Id="rId3" Type="http://schemas.openxmlformats.org/officeDocument/2006/relationships/image" Target="../media/image3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9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0.xm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svg"/><Relationship Id="rId8" Type="http://schemas.openxmlformats.org/officeDocument/2006/relationships/image" Target="../media/image24.svg"/><Relationship Id="rId7" Type="http://schemas.openxmlformats.org/officeDocument/2006/relationships/image" Target="../media/image23.svg"/><Relationship Id="rId6" Type="http://schemas.openxmlformats.org/officeDocument/2006/relationships/image" Target="../media/image19.png"/><Relationship Id="rId5" Type="http://schemas.openxmlformats.org/officeDocument/2006/relationships/image" Target="../media/image22.svg"/><Relationship Id="rId4" Type="http://schemas.openxmlformats.org/officeDocument/2006/relationships/image" Target="../media/image17.png"/><Relationship Id="rId3" Type="http://schemas.openxmlformats.org/officeDocument/2006/relationships/image" Target="../media/image21.svg"/><Relationship Id="rId2" Type="http://schemas.openxmlformats.org/officeDocument/2006/relationships/image" Target="../media/image15.pn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91.xml"/><Relationship Id="rId11" Type="http://schemas.openxmlformats.org/officeDocument/2006/relationships/image" Target="../media/image20.svg"/><Relationship Id="rId10" Type="http://schemas.openxmlformats.org/officeDocument/2006/relationships/image" Target="../media/image26.sv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2.xm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28.svg"/><Relationship Id="rId4" Type="http://schemas.openxmlformats.org/officeDocument/2006/relationships/image" Target="../media/image17.png"/><Relationship Id="rId3" Type="http://schemas.openxmlformats.org/officeDocument/2006/relationships/image" Target="../media/image27.sv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3.xml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6.xml"/><Relationship Id="rId3" Type="http://schemas.openxmlformats.org/officeDocument/2006/relationships/image" Target="../media/image3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.xml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0.xml"/><Relationship Id="rId3" Type="http://schemas.openxmlformats.org/officeDocument/2006/relationships/image" Target="../media/image3.png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2.xml"/><Relationship Id="rId2" Type="http://schemas.openxmlformats.org/officeDocument/2006/relationships/image" Target="../media/image30.png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5.xml"/><Relationship Id="rId3" Type="http://schemas.openxmlformats.org/officeDocument/2006/relationships/image" Target="../media/image3.png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6.xml"/><Relationship Id="rId2" Type="http://schemas.openxmlformats.org/officeDocument/2006/relationships/image" Target="../media/image31.png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9.xml"/><Relationship Id="rId3" Type="http://schemas.openxmlformats.org/officeDocument/2006/relationships/image" Target="../media/image3.png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Srill</a:t>
            </a:r>
            <a:r>
              <a:rPr lang="zh-CN" altLang="en-US"/>
              <a:t>屏蔽系统软件需求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10895" y="619125"/>
            <a:ext cx="10796905" cy="50158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总体要求：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1.1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平台可以对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5000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台设备进行管理和监控，扩容到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20000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台。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1.2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服务端采用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Linux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，开源数据库，客户端采用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web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，支持中文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英文及阿拉伯文，匹配主流浏览器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chrome/edge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1.3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客户端页面操作简洁美观，背景纹路颜色整体风格庄重可靠感受，带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logo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，可支持更换，支持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https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，登陆除了用户名和密码，请加入随机数和字母组合验证。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1.4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网管账号支持层级管理，分为超级管理员（负责管理国家、地区（省）、监狱、建筑物名、楼层、设备，具有所有管理权限），管理员（由超级管理员创建，负责管理地区（省）、监狱、建筑物名、楼层、设备，具有负责具体地区的所有权限），用户（由超级管理员或管理员创建，负责管理具体监狱、建筑物名、楼层、设备，具有授权后的权限，比如有的管理员只能查看，且只能查看部分建筑物或楼层，具体在超级管理员和管理员权限管理上操作）。告警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数据统计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日志都随着账号管理层级，只能配置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管理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查询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显示同层及以下数据。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1.5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网管监控至少支持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SNMPv2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（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可选）。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1.6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设备到网管刷新时间默认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30s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，后台可配置。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1.7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提供源代码和三年维护。部署支持并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提供一年远程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支持。</a:t>
            </a:r>
            <a:endParaRPr lang="zh-CN" altLang="en-US" sz="160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1.8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延保（可选）。</a:t>
            </a:r>
            <a:endParaRPr lang="zh-CN" altLang="en-US" sz="160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1.9 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网管监控支持</a:t>
            </a: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SNMPv3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（可选）。</a:t>
            </a:r>
            <a:endParaRPr lang="zh-CN" altLang="en-US" sz="160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1.10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支持对第三方网管接口（可选），和</a:t>
            </a: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1.5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和</a:t>
            </a: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1.9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相关。</a:t>
            </a:r>
            <a:endParaRPr lang="zh-CN" altLang="en-US" sz="160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1.11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平台支持冗余</a:t>
            </a: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1+1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部署。</a:t>
            </a:r>
            <a:endParaRPr lang="zh-CN" altLang="en-US" sz="160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1.12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支持</a:t>
            </a: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license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控制终端设备数量，网管在线数量</a:t>
            </a: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license</a:t>
            </a:r>
            <a:r>
              <a:rPr lang="zh-CN" altLang="en-US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</a:t>
            </a:r>
            <a:endParaRPr lang="zh-CN" altLang="en-US" sz="160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7145" y="0"/>
            <a:ext cx="12168505" cy="6871970"/>
          </a:xfrm>
          <a:prstGeom prst="rect">
            <a:avLst/>
          </a:prstGeom>
          <a:solidFill>
            <a:schemeClr val="accent4">
              <a:lumMod val="75000"/>
              <a:alpha val="44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1742440" y="972820"/>
            <a:ext cx="5828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整张背景可以替换，但是不开放给客户，开发给</a:t>
            </a:r>
            <a:r>
              <a:rPr lang="en-US" altLang="zh-CN" sz="1400"/>
              <a:t>Srill</a:t>
            </a:r>
            <a:r>
              <a:rPr lang="zh-CN" altLang="en-US" sz="1400"/>
              <a:t>管理人员</a:t>
            </a:r>
            <a:endParaRPr lang="zh-CN" altLang="en-US" sz="1400"/>
          </a:p>
        </p:txBody>
      </p:sp>
      <p:sp>
        <p:nvSpPr>
          <p:cNvPr id="10" name="矩形 9"/>
          <p:cNvSpPr/>
          <p:nvPr/>
        </p:nvSpPr>
        <p:spPr>
          <a:xfrm>
            <a:off x="1198880" y="1605280"/>
            <a:ext cx="3675380" cy="4464050"/>
          </a:xfrm>
          <a:prstGeom prst="rect">
            <a:avLst/>
          </a:prstGeom>
          <a:solidFill>
            <a:schemeClr val="accent1">
              <a:lumMod val="60000"/>
              <a:lumOff val="40000"/>
              <a:alpha val="57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Salam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Welcome to</a:t>
            </a:r>
            <a:endParaRPr lang="en-US">
              <a:solidFill>
                <a:schemeClr val="tx1"/>
              </a:solidFill>
            </a:endParaRP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Jamming Managment System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74260" y="1605280"/>
            <a:ext cx="3675380" cy="4464050"/>
          </a:xfrm>
          <a:prstGeom prst="rect">
            <a:avLst/>
          </a:prstGeom>
          <a:solidFill>
            <a:schemeClr val="accent1">
              <a:lumMod val="60000"/>
              <a:lumOff val="40000"/>
              <a:alpha val="18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977130" y="1898650"/>
            <a:ext cx="2721610" cy="1661160"/>
            <a:chOff x="7838" y="4541"/>
            <a:chExt cx="4286" cy="2616"/>
          </a:xfrm>
        </p:grpSpPr>
        <p:sp>
          <p:nvSpPr>
            <p:cNvPr id="11" name="文本框 10"/>
            <p:cNvSpPr txBox="1"/>
            <p:nvPr/>
          </p:nvSpPr>
          <p:spPr>
            <a:xfrm>
              <a:off x="7838" y="4541"/>
              <a:ext cx="234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User Name</a:t>
              </a:r>
              <a:endParaRPr lang="en-US" altLang="zh-CN" sz="14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8018" y="5086"/>
              <a:ext cx="4106" cy="682"/>
            </a:xfrm>
            <a:prstGeom prst="rect">
              <a:avLst/>
            </a:prstGeom>
            <a:solidFill>
              <a:srgbClr val="FAFAFA">
                <a:alpha val="61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018" y="5980"/>
              <a:ext cx="234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Password</a:t>
              </a:r>
              <a:endParaRPr lang="en-US" altLang="zh-CN" sz="1400"/>
            </a:p>
          </p:txBody>
        </p:sp>
        <p:sp>
          <p:nvSpPr>
            <p:cNvPr id="15" name="矩形 14"/>
            <p:cNvSpPr/>
            <p:nvPr/>
          </p:nvSpPr>
          <p:spPr>
            <a:xfrm>
              <a:off x="8018" y="6475"/>
              <a:ext cx="4106" cy="682"/>
            </a:xfrm>
            <a:prstGeom prst="rect">
              <a:avLst/>
            </a:prstGeom>
            <a:solidFill>
              <a:srgbClr val="FAFAFA">
                <a:alpha val="61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091430" y="4711065"/>
            <a:ext cx="10039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Arabic</a:t>
            </a:r>
            <a:endParaRPr lang="en-US" altLang="zh-CN" sz="1400"/>
          </a:p>
        </p:txBody>
      </p:sp>
      <p:sp>
        <p:nvSpPr>
          <p:cNvPr id="17" name="文本框 16"/>
          <p:cNvSpPr txBox="1"/>
          <p:nvPr/>
        </p:nvSpPr>
        <p:spPr>
          <a:xfrm>
            <a:off x="6464935" y="4711065"/>
            <a:ext cx="10039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English</a:t>
            </a:r>
            <a:endParaRPr lang="en-US" altLang="zh-CN" sz="1400"/>
          </a:p>
        </p:txBody>
      </p:sp>
      <p:pic>
        <p:nvPicPr>
          <p:cNvPr id="18" name="图片 17" descr="按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38825" y="4711065"/>
            <a:ext cx="256540" cy="256540"/>
          </a:xfrm>
          <a:prstGeom prst="rect">
            <a:avLst/>
          </a:prstGeom>
        </p:spPr>
      </p:pic>
      <p:pic>
        <p:nvPicPr>
          <p:cNvPr id="19" name="图片 18" descr="按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3930" y="4726305"/>
            <a:ext cx="256540" cy="25654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5090795" y="5133975"/>
            <a:ext cx="2608580" cy="43307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Log In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410" y="3548380"/>
            <a:ext cx="804545" cy="804545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201295" y="168910"/>
            <a:ext cx="951865" cy="80391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客户</a:t>
            </a:r>
            <a:r>
              <a:rPr lang="en-US" altLang="zh-CN"/>
              <a:t>logo</a:t>
            </a:r>
            <a:endParaRPr lang="en-US" altLang="zh-CN"/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982980" y="508000"/>
            <a:ext cx="907415" cy="3098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070100" y="258445"/>
            <a:ext cx="1637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客户</a:t>
            </a:r>
            <a:r>
              <a:rPr lang="en-US" altLang="zh-CN" sz="1200"/>
              <a:t>logo</a:t>
            </a:r>
            <a:r>
              <a:rPr lang="zh-CN" altLang="en-US" sz="1200"/>
              <a:t>可以上传</a:t>
            </a:r>
            <a:endParaRPr lang="zh-CN" altLang="en-US" sz="1200"/>
          </a:p>
        </p:txBody>
      </p:sp>
      <p:sp>
        <p:nvSpPr>
          <p:cNvPr id="24" name="文本框 23"/>
          <p:cNvSpPr txBox="1"/>
          <p:nvPr/>
        </p:nvSpPr>
        <p:spPr>
          <a:xfrm>
            <a:off x="9117330" y="2607945"/>
            <a:ext cx="236347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超级管理账号由我司后台提供，提供后客户自己进行用户名和账号修改。修改地方在用户管理页面</a:t>
            </a:r>
            <a:endParaRPr lang="zh-CN" sz="1200"/>
          </a:p>
          <a:p>
            <a:endParaRPr lang="zh-CN" sz="1200"/>
          </a:p>
          <a:p>
            <a:r>
              <a:rPr lang="zh-CN" sz="1200"/>
              <a:t>同时软件需要</a:t>
            </a:r>
            <a:r>
              <a:rPr lang="en-US" altLang="zh-CN" sz="1200"/>
              <a:t>license</a:t>
            </a:r>
            <a:r>
              <a:rPr lang="zh-CN" altLang="en-US" sz="1200"/>
              <a:t>控制，单个软件只能在一台电脑上使用。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临时账号同样有</a:t>
            </a:r>
            <a:r>
              <a:rPr lang="en-US" altLang="zh-CN" sz="1200"/>
              <a:t>license</a:t>
            </a:r>
            <a:r>
              <a:rPr lang="zh-CN" altLang="en-US" sz="1200"/>
              <a:t>控制，单台电脑使用，且有使用时间限制，超过限制后无法登录。</a:t>
            </a:r>
            <a:endParaRPr lang="zh-CN" altLang="en-US" sz="1200"/>
          </a:p>
        </p:txBody>
      </p:sp>
      <p:cxnSp>
        <p:nvCxnSpPr>
          <p:cNvPr id="25" name="直接箭头连接符 24"/>
          <p:cNvCxnSpPr/>
          <p:nvPr/>
        </p:nvCxnSpPr>
        <p:spPr>
          <a:xfrm flipH="1">
            <a:off x="7985125" y="2880360"/>
            <a:ext cx="907415" cy="3098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091430" y="3735070"/>
            <a:ext cx="14878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Random Code</a:t>
            </a:r>
            <a:endParaRPr lang="en-US" altLang="zh-CN" sz="1400"/>
          </a:p>
        </p:txBody>
      </p:sp>
      <p:sp>
        <p:nvSpPr>
          <p:cNvPr id="30" name="矩形 29"/>
          <p:cNvSpPr/>
          <p:nvPr/>
        </p:nvSpPr>
        <p:spPr>
          <a:xfrm>
            <a:off x="5092065" y="3978275"/>
            <a:ext cx="2607310" cy="433070"/>
          </a:xfrm>
          <a:prstGeom prst="rect">
            <a:avLst/>
          </a:prstGeom>
          <a:solidFill>
            <a:srgbClr val="FAFAFA">
              <a:alpha val="61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580880" y="168910"/>
            <a:ext cx="2134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2993390" y="1321435"/>
            <a:ext cx="6115685" cy="51250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030210" y="735965"/>
            <a:ext cx="389255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1. </a:t>
            </a:r>
            <a:r>
              <a:rPr lang="zh-CN" altLang="en-US" sz="1400"/>
              <a:t>超级管理员登录界面后出现沙特</a:t>
            </a:r>
            <a:r>
              <a:rPr lang="en-US" altLang="zh-CN" sz="1400"/>
              <a:t>13</a:t>
            </a:r>
            <a:r>
              <a:rPr lang="zh-CN" altLang="en-US" sz="1400"/>
              <a:t>个省份地图，当光标移动到比如</a:t>
            </a:r>
            <a:r>
              <a:rPr lang="en-US" altLang="zh-CN" sz="1400"/>
              <a:t>riyadh</a:t>
            </a:r>
            <a:r>
              <a:rPr lang="zh-CN" altLang="en-US" sz="1400"/>
              <a:t>省后，该省份地图块会突出高亮，移动到其他省份有一样效果。光标移动到某个省份后，光标右侧显示监狱列表和各监狱屏蔽仪数量，以及屏蔽仪总数。</a:t>
            </a:r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86360" y="3429000"/>
            <a:ext cx="23412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/>
              <a:t>左侧列出</a:t>
            </a:r>
            <a:r>
              <a:rPr lang="en-US" altLang="zh-CN" sz="1400"/>
              <a:t>13</a:t>
            </a:r>
            <a:r>
              <a:rPr lang="zh-CN" altLang="en-US" sz="1400"/>
              <a:t>个省份表格</a:t>
            </a:r>
            <a:endParaRPr lang="zh-CN" altLang="en-US" sz="1400"/>
          </a:p>
        </p:txBody>
      </p:sp>
      <p:graphicFrame>
        <p:nvGraphicFramePr>
          <p:cNvPr id="11" name="表格 10"/>
          <p:cNvGraphicFramePr/>
          <p:nvPr/>
        </p:nvGraphicFramePr>
        <p:xfrm>
          <a:off x="148590" y="4067810"/>
          <a:ext cx="27622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750"/>
                <a:gridCol w="920750"/>
                <a:gridCol w="92075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Province</a:t>
                      </a:r>
                      <a:endParaRPr lang="en-US" altLang="zh-CN" sz="9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Total Prison</a:t>
                      </a:r>
                      <a:endParaRPr lang="en-US" altLang="zh-CN" sz="9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Total Jammer</a:t>
                      </a:r>
                      <a:endParaRPr lang="en-US" altLang="zh-CN" sz="9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Riyadh</a:t>
                      </a:r>
                      <a:endParaRPr lang="en-US" altLang="zh-CN" sz="9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3</a:t>
                      </a:r>
                      <a:endParaRPr lang="en-US" altLang="zh-CN" sz="9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3000</a:t>
                      </a:r>
                      <a:endParaRPr lang="en-US" altLang="zh-CN" sz="9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9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9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932420" y="168910"/>
            <a:ext cx="1775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52155" y="3122295"/>
            <a:ext cx="3840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2. </a:t>
            </a:r>
            <a:r>
              <a:rPr lang="zh-CN" sz="1400"/>
              <a:t>超级管理员点击某个省份区块后，进入利雅得省界面</a:t>
            </a:r>
            <a:endParaRPr lang="zh-CN" sz="1400"/>
          </a:p>
        </p:txBody>
      </p:sp>
      <p:sp>
        <p:nvSpPr>
          <p:cNvPr id="16" name="文本框 15"/>
          <p:cNvSpPr txBox="1"/>
          <p:nvPr/>
        </p:nvSpPr>
        <p:spPr>
          <a:xfrm>
            <a:off x="393065" y="1644015"/>
            <a:ext cx="186944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/>
              <a:t>点击省份，会弹出</a:t>
            </a:r>
            <a:r>
              <a:rPr lang="en-US" altLang="zh-CN" sz="1400"/>
              <a:t>13</a:t>
            </a:r>
            <a:r>
              <a:rPr lang="zh-CN" altLang="en-US" sz="1400"/>
              <a:t>个省列表，点击单个省份，弹出省份下属的监狱名，点击监狱，可以跳到具体监狱的页面</a:t>
            </a:r>
            <a:endParaRPr lang="zh-CN" altLang="en-US" sz="1400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14" name="矩形 13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15" name="矩形 14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7" name="矩形 16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13020" y="53721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061065" y="104140"/>
            <a:ext cx="1322705" cy="43307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logo out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10895" y="619125"/>
            <a:ext cx="9457690" cy="62388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点击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report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，主要输出以下信息。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 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全国监狱屏蔽仪现状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全国监狱数量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屏蔽仪数量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在线数量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离线数量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告警数量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2. 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屏蔽仪在点击报告时间前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6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自然月数据统计，右侧针对各省输出</a:t>
            </a: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6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个月数据柱状图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3. 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输出整个国家屏蔽仪列表，按省份，监狱，楼层归纳各自屏蔽仪列表，包含设备编号，全网编号</a:t>
            </a:r>
            <a:r>
              <a:rPr lang="zh-CN" altLang="en-US" sz="1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，功率，设定工作时间，频率屏蔽状况，开关状况</a:t>
            </a: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40280" y="2156460"/>
            <a:ext cx="4585970" cy="1191895"/>
            <a:chOff x="6696" y="2659"/>
            <a:chExt cx="11582" cy="3186"/>
          </a:xfrm>
        </p:grpSpPr>
        <p:sp>
          <p:nvSpPr>
            <p:cNvPr id="10" name="矩形 9"/>
            <p:cNvSpPr/>
            <p:nvPr/>
          </p:nvSpPr>
          <p:spPr>
            <a:xfrm>
              <a:off x="6696" y="2659"/>
              <a:ext cx="3704" cy="3186"/>
            </a:xfrm>
            <a:prstGeom prst="rect">
              <a:avLst/>
            </a:prstGeom>
            <a:solidFill>
              <a:schemeClr val="accent6">
                <a:alpha val="18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省</a:t>
              </a:r>
              <a:r>
                <a:rPr lang="en-US" altLang="zh-CN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监狱数量</a:t>
              </a:r>
              <a:endParaRPr lang="zh-CN" altLang="en-US" sz="100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在线数量</a:t>
              </a:r>
              <a:endParaRPr lang="zh-CN" altLang="en-US" sz="100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离线数量</a:t>
              </a:r>
              <a:endParaRPr lang="zh-CN" altLang="en-US" sz="100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告警数量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0600" y="2659"/>
              <a:ext cx="3704" cy="3186"/>
            </a:xfrm>
            <a:prstGeom prst="rect">
              <a:avLst/>
            </a:prstGeom>
            <a:solidFill>
              <a:schemeClr val="accent3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>
                  <a:solidFill>
                    <a:schemeClr val="tx1"/>
                  </a:solidFill>
                </a:rPr>
                <a:t>省</a:t>
              </a:r>
              <a:r>
                <a:rPr lang="en-US" altLang="zh-CN">
                  <a:solidFill>
                    <a:schemeClr val="tx1"/>
                  </a:solidFill>
                </a:rPr>
                <a:t>2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4574" y="2659"/>
              <a:ext cx="3704" cy="3186"/>
            </a:xfrm>
            <a:prstGeom prst="rect">
              <a:avLst/>
            </a:prstGeom>
            <a:solidFill>
              <a:schemeClr val="accent1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省</a:t>
              </a:r>
              <a:r>
                <a:rPr lang="en-US" altLang="zh-CN">
                  <a:solidFill>
                    <a:schemeClr val="tx1"/>
                  </a:solidFill>
                </a:rPr>
                <a:t>3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13460" y="4189730"/>
            <a:ext cx="4585970" cy="1191895"/>
            <a:chOff x="6696" y="2659"/>
            <a:chExt cx="11582" cy="3186"/>
          </a:xfrm>
        </p:grpSpPr>
        <p:sp>
          <p:nvSpPr>
            <p:cNvPr id="5" name="矩形 4"/>
            <p:cNvSpPr/>
            <p:nvPr/>
          </p:nvSpPr>
          <p:spPr>
            <a:xfrm>
              <a:off x="6696" y="2659"/>
              <a:ext cx="3704" cy="3186"/>
            </a:xfrm>
            <a:prstGeom prst="rect">
              <a:avLst/>
            </a:prstGeom>
            <a:solidFill>
              <a:schemeClr val="accent6">
                <a:alpha val="18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省</a:t>
              </a:r>
              <a:r>
                <a:rPr lang="en-US" altLang="zh-CN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设备正常运行时长</a:t>
              </a:r>
              <a:endParaRPr lang="zh-CN" altLang="en-US" sz="100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故障设备时长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0600" y="2659"/>
              <a:ext cx="3704" cy="3186"/>
            </a:xfrm>
            <a:prstGeom prst="rect">
              <a:avLst/>
            </a:prstGeom>
            <a:solidFill>
              <a:schemeClr val="accent3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>
                  <a:solidFill>
                    <a:schemeClr val="tx1"/>
                  </a:solidFill>
                </a:rPr>
                <a:t>省</a:t>
              </a:r>
              <a:r>
                <a:rPr lang="en-US" altLang="zh-CN">
                  <a:solidFill>
                    <a:schemeClr val="tx1"/>
                  </a:solidFill>
                </a:rPr>
                <a:t>2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4574" y="2659"/>
              <a:ext cx="3704" cy="3186"/>
            </a:xfrm>
            <a:prstGeom prst="rect">
              <a:avLst/>
            </a:prstGeom>
            <a:solidFill>
              <a:schemeClr val="accent1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省</a:t>
              </a:r>
              <a:r>
                <a:rPr lang="en-US" altLang="zh-CN">
                  <a:solidFill>
                    <a:schemeClr val="tx1"/>
                  </a:solidFill>
                </a:rPr>
                <a:t>3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第一部分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4800"/>
              <a:t>省份</a:t>
            </a:r>
            <a:endParaRPr lang="zh-CN" altLang="en-US" sz="4800"/>
          </a:p>
        </p:txBody>
      </p:sp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580880" y="168910"/>
            <a:ext cx="2134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008620" y="615950"/>
            <a:ext cx="38925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2. </a:t>
            </a:r>
            <a:r>
              <a:rPr lang="zh-CN" sz="1400"/>
              <a:t>超级管理员点击某个省份区块后</a:t>
            </a:r>
            <a:endParaRPr lang="zh-CN" sz="1400"/>
          </a:p>
        </p:txBody>
      </p:sp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rcRect b="10524"/>
          <a:stretch>
            <a:fillRect/>
          </a:stretch>
        </p:blipFill>
        <p:spPr>
          <a:xfrm>
            <a:off x="0" y="1689100"/>
            <a:ext cx="4188460" cy="51689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251960" y="1688465"/>
            <a:ext cx="2352040" cy="2023110"/>
          </a:xfrm>
          <a:prstGeom prst="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监狱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31000" y="1688465"/>
            <a:ext cx="2352040" cy="2023110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监狱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54490" y="1688465"/>
            <a:ext cx="2352040" cy="2023110"/>
          </a:xfrm>
          <a:prstGeom prst="rect">
            <a:avLst/>
          </a:prstGeom>
          <a:solidFill>
            <a:schemeClr val="accent1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监狱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51960" y="4069715"/>
            <a:ext cx="2352040" cy="202311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监狱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>
            <a:off x="6731000" y="4069715"/>
            <a:ext cx="2352040" cy="202311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监狱</a:t>
            </a:r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9254490" y="4069715"/>
            <a:ext cx="2352040" cy="202311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+</a:t>
            </a:r>
            <a:endParaRPr 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377315" y="3251200"/>
            <a:ext cx="1510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监狱：</a:t>
            </a:r>
            <a:r>
              <a:rPr lang="en-US" altLang="zh-CN" sz="1200"/>
              <a:t>6</a:t>
            </a:r>
            <a:endParaRPr lang="en-US" altLang="zh-CN" sz="1200"/>
          </a:p>
          <a:p>
            <a:r>
              <a:rPr lang="zh-CN" altLang="en-US" sz="1200"/>
              <a:t>设备：</a:t>
            </a:r>
            <a:r>
              <a:rPr lang="en-US" altLang="zh-CN" sz="1200"/>
              <a:t>2800</a:t>
            </a:r>
            <a:endParaRPr lang="en-US" altLang="zh-CN" sz="1200"/>
          </a:p>
        </p:txBody>
      </p: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rcRect b="7351"/>
          <a:stretch>
            <a:fillRect/>
          </a:stretch>
        </p:blipFill>
        <p:spPr>
          <a:xfrm>
            <a:off x="0" y="1703705"/>
            <a:ext cx="4188460" cy="51542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627745" y="1261745"/>
            <a:ext cx="3380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3. </a:t>
            </a:r>
            <a:r>
              <a:rPr lang="zh-CN" sz="1400"/>
              <a:t>点击</a:t>
            </a:r>
            <a:r>
              <a:rPr lang="en-US" altLang="zh-CN" sz="1400"/>
              <a:t>+</a:t>
            </a:r>
            <a:r>
              <a:rPr lang="zh-CN" altLang="en-US" sz="1400"/>
              <a:t>新建监狱后弹出页面</a:t>
            </a:r>
            <a:endParaRPr lang="zh-CN" altLang="en-US" sz="1400"/>
          </a:p>
        </p:txBody>
      </p:sp>
      <p:grpSp>
        <p:nvGrpSpPr>
          <p:cNvPr id="10" name="组合 9"/>
          <p:cNvGrpSpPr/>
          <p:nvPr/>
        </p:nvGrpSpPr>
        <p:grpSpPr>
          <a:xfrm>
            <a:off x="4440555" y="1406525"/>
            <a:ext cx="7106920" cy="5257165"/>
            <a:chOff x="7086" y="1237"/>
            <a:chExt cx="11192" cy="8279"/>
          </a:xfrm>
        </p:grpSpPr>
        <p:grpSp>
          <p:nvGrpSpPr>
            <p:cNvPr id="9" name="组合 8"/>
            <p:cNvGrpSpPr/>
            <p:nvPr/>
          </p:nvGrpSpPr>
          <p:grpSpPr>
            <a:xfrm>
              <a:off x="7086" y="2296"/>
              <a:ext cx="11192" cy="7220"/>
              <a:chOff x="7086" y="2296"/>
              <a:chExt cx="11192" cy="7220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7086" y="2296"/>
                <a:ext cx="11192" cy="7220"/>
              </a:xfrm>
              <a:prstGeom prst="rect">
                <a:avLst/>
              </a:prstGeom>
              <a:solidFill>
                <a:schemeClr val="accent4">
                  <a:lumMod val="75000"/>
                  <a:alpha val="61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7465" y="2683"/>
                <a:ext cx="1657" cy="156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level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7941" y="1237"/>
              <a:ext cx="4177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200"/>
                <a:t>点击</a:t>
              </a:r>
              <a:r>
                <a:rPr lang="en-US" sz="1200"/>
                <a:t>level</a:t>
              </a:r>
              <a:r>
                <a:rPr lang="zh-CN" altLang="en-US" sz="1200"/>
                <a:t>，弹出界面可选三个图标，严管监狱，普管监狱，宽管监狱，针对等级划分，在上一页面按照等级高低排序，且颜色不同，严管背景色淡红，普管级别淡黄，宽管级别淡蓝</a:t>
              </a:r>
              <a:endParaRPr lang="zh-CN" altLang="en-US" sz="1200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5986780" y="2868930"/>
            <a:ext cx="486727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监狱名称：</a:t>
            </a:r>
            <a:endParaRPr lang="zh-CN" altLang="en-US"/>
          </a:p>
          <a:p>
            <a:r>
              <a:rPr lang="zh-CN" altLang="en-US"/>
              <a:t>授权人员：</a:t>
            </a:r>
            <a:r>
              <a:rPr lang="en-US" altLang="zh-CN"/>
              <a:t> </a:t>
            </a:r>
            <a:r>
              <a:rPr lang="zh-CN" altLang="en-US"/>
              <a:t>（下拉菜单可选人员，可多选）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监控数据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监狱楼数量：（根据后面页面数量而定）</a:t>
            </a:r>
            <a:endParaRPr lang="zh-CN" altLang="en-US"/>
          </a:p>
          <a:p>
            <a:r>
              <a:rPr lang="zh-CN" altLang="en-US"/>
              <a:t>监室数量：（输入，非必填）</a:t>
            </a:r>
            <a:endParaRPr lang="zh-CN" altLang="en-US"/>
          </a:p>
          <a:p>
            <a:r>
              <a:rPr lang="zh-CN" altLang="en-US"/>
              <a:t>屏蔽仪数量：</a:t>
            </a:r>
            <a:r>
              <a:rPr lang="zh-CN" altLang="en-US">
                <a:sym typeface="+mn-ea"/>
              </a:rPr>
              <a:t>（根据后面页面数量而定）</a:t>
            </a:r>
            <a:endParaRPr lang="zh-CN" altLang="en-US"/>
          </a:p>
          <a:p>
            <a:r>
              <a:rPr lang="zh-CN" altLang="en-US"/>
              <a:t>在线数量：</a:t>
            </a:r>
            <a:r>
              <a:rPr lang="zh-CN" altLang="en-US">
                <a:sym typeface="+mn-ea"/>
              </a:rPr>
              <a:t>（根据后面页面数量而定）</a:t>
            </a:r>
            <a:endParaRPr lang="zh-CN" altLang="en-US"/>
          </a:p>
          <a:p>
            <a:r>
              <a:rPr lang="zh-CN" altLang="en-US"/>
              <a:t>离线数量：</a:t>
            </a:r>
            <a:r>
              <a:rPr lang="zh-CN" altLang="en-US">
                <a:sym typeface="+mn-ea"/>
              </a:rPr>
              <a:t>（根据后面页面数量而定）</a:t>
            </a:r>
            <a:endParaRPr lang="zh-CN" altLang="en-US"/>
          </a:p>
          <a:p>
            <a:r>
              <a:rPr lang="zh-CN" altLang="en-US"/>
              <a:t>告警数量：</a:t>
            </a:r>
            <a:r>
              <a:rPr lang="zh-CN" altLang="en-US">
                <a:sym typeface="+mn-ea"/>
              </a:rPr>
              <a:t>（根据后面页面数量而定）</a:t>
            </a:r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13" name="矩形 12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14" name="矩形 13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5" name="矩形 14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78865" y="3131185"/>
            <a:ext cx="24123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highlight>
                  <a:srgbClr val="FFFF00"/>
                </a:highlight>
              </a:rPr>
              <a:t>监狱：</a:t>
            </a:r>
            <a:r>
              <a:rPr lang="en-US" altLang="zh-CN" sz="1200">
                <a:highlight>
                  <a:srgbClr val="FFFF00"/>
                </a:highlight>
              </a:rPr>
              <a:t>6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设备：</a:t>
            </a:r>
            <a:r>
              <a:rPr lang="en-US" altLang="zh-CN" sz="1200">
                <a:highlight>
                  <a:srgbClr val="FFFF00"/>
                </a:highlight>
              </a:rPr>
              <a:t>2800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在线：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离线：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告警：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此初统计该省份监狱及设备数量</a:t>
            </a:r>
            <a:endParaRPr lang="zh-CN" altLang="en-US" sz="1200">
              <a:highlight>
                <a:srgbClr val="FFFF00"/>
              </a:highlight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306050" y="6082665"/>
            <a:ext cx="1002030" cy="43307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保存</a:t>
            </a:r>
            <a:endParaRPr lang="zh-CN" altLang="en-US" sz="1200"/>
          </a:p>
        </p:txBody>
      </p:sp>
      <p:sp>
        <p:nvSpPr>
          <p:cNvPr id="36" name="矩形 35"/>
          <p:cNvSpPr/>
          <p:nvPr/>
        </p:nvSpPr>
        <p:spPr>
          <a:xfrm>
            <a:off x="10175240" y="2324735"/>
            <a:ext cx="100203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返回</a:t>
            </a:r>
            <a:endParaRPr lang="zh-CN" altLang="en-US" sz="120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799195" y="997585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4. </a:t>
            </a:r>
            <a:r>
              <a:rPr lang="zh-CN" sz="1400"/>
              <a:t>点击监狱图标后，进入页面</a:t>
            </a:r>
            <a:endParaRPr lang="en-US" altLang="zh-CN" sz="1400"/>
          </a:p>
        </p:txBody>
      </p:sp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846455"/>
            <a:ext cx="8195945" cy="433070"/>
            <a:chOff x="679" y="1533"/>
            <a:chExt cx="12907" cy="682"/>
          </a:xfrm>
        </p:grpSpPr>
        <p:sp>
          <p:nvSpPr>
            <p:cNvPr id="14" name="矩形 13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15" name="矩形 14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7" name="矩形 6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015"/>
            <a:ext cx="3387090" cy="547116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31165" y="3139440"/>
            <a:ext cx="274955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highlight>
                  <a:srgbClr val="FFFF00"/>
                </a:highlight>
              </a:rPr>
              <a:t>监狱名称</a:t>
            </a:r>
            <a:endParaRPr lang="en-US" altLang="zh-CN">
              <a:highlight>
                <a:srgbClr val="FFFF00"/>
              </a:highlight>
            </a:endParaRPr>
          </a:p>
          <a:p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监狱楼数：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设备：</a:t>
            </a:r>
            <a:r>
              <a:rPr lang="en-US" altLang="zh-CN" sz="1200">
                <a:highlight>
                  <a:srgbClr val="FFFF00"/>
                </a:highlight>
              </a:rPr>
              <a:t>1</a:t>
            </a:r>
            <a:r>
              <a:rPr lang="en-US" altLang="zh-CN" sz="1200">
                <a:highlight>
                  <a:srgbClr val="FFFF00"/>
                </a:highlight>
              </a:rPr>
              <a:t>800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在线：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离线：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告警：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此处统计该监狱总楼栋及设备数量</a:t>
            </a:r>
            <a:endParaRPr lang="zh-CN" altLang="en-US" sz="1200">
              <a:highlight>
                <a:srgbClr val="FFFF00"/>
              </a:highligh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71090" y="1537335"/>
            <a:ext cx="757555" cy="6521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编辑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1135" y="1537335"/>
            <a:ext cx="26523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highlight>
                  <a:srgbClr val="FFFF00"/>
                </a:highlight>
              </a:rPr>
              <a:t>编辑用于替换背景图片，默认有简单图片，提高客户辨识度</a:t>
            </a:r>
            <a:endParaRPr lang="zh-CN" sz="1200">
              <a:highlight>
                <a:srgbClr val="FFFF00"/>
              </a:highligh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796665" y="1981200"/>
            <a:ext cx="2352040" cy="2023110"/>
          </a:xfrm>
          <a:prstGeom prst="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建筑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275705" y="1981200"/>
            <a:ext cx="2352040" cy="2023110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建筑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799195" y="1981200"/>
            <a:ext cx="2352040" cy="2023110"/>
          </a:xfrm>
          <a:prstGeom prst="rect">
            <a:avLst/>
          </a:prstGeom>
          <a:solidFill>
            <a:schemeClr val="accent1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建筑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508750" y="5037455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5. </a:t>
            </a:r>
            <a:r>
              <a:rPr lang="zh-CN" sz="1400"/>
              <a:t>点击新建</a:t>
            </a:r>
            <a:endParaRPr lang="en-US" altLang="zh-CN" sz="1400"/>
          </a:p>
        </p:txBody>
      </p:sp>
      <p:sp>
        <p:nvSpPr>
          <p:cNvPr id="27" name="矩形 26"/>
          <p:cNvSpPr/>
          <p:nvPr/>
        </p:nvSpPr>
        <p:spPr>
          <a:xfrm>
            <a:off x="3796665" y="4178935"/>
            <a:ext cx="2352040" cy="202311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+ New</a:t>
            </a:r>
            <a:endParaRPr lang="en-US"/>
          </a:p>
        </p:txBody>
      </p:sp>
      <p:sp>
        <p:nvSpPr>
          <p:cNvPr id="28" name="文本框 27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0149205" y="1390015"/>
            <a:ext cx="100203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返回</a:t>
            </a:r>
            <a:endParaRPr lang="zh-CN" altLang="en-US" sz="120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799195" y="997585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5. </a:t>
            </a:r>
            <a:r>
              <a:rPr lang="zh-CN" sz="1400"/>
              <a:t>点击新建</a:t>
            </a:r>
            <a:endParaRPr lang="en-US" altLang="zh-CN" sz="1400"/>
          </a:p>
        </p:txBody>
      </p:sp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846455"/>
            <a:ext cx="8195945" cy="433070"/>
            <a:chOff x="679" y="1533"/>
            <a:chExt cx="12907" cy="682"/>
          </a:xfrm>
        </p:grpSpPr>
        <p:sp>
          <p:nvSpPr>
            <p:cNvPr id="14" name="矩形 13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15" name="矩形 14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7" name="矩形 6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015"/>
            <a:ext cx="3387090" cy="547116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31165" y="3139440"/>
            <a:ext cx="274955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highlight>
                  <a:srgbClr val="FFFF00"/>
                </a:highlight>
              </a:rPr>
              <a:t>建筑</a:t>
            </a:r>
            <a:r>
              <a:rPr lang="en-US" altLang="zh-CN">
                <a:highlight>
                  <a:srgbClr val="FFFF00"/>
                </a:highlight>
              </a:rPr>
              <a:t>6</a:t>
            </a:r>
            <a:endParaRPr lang="en-US" altLang="zh-CN">
              <a:highlight>
                <a:srgbClr val="FFFF00"/>
              </a:highlight>
            </a:endParaRPr>
          </a:p>
          <a:p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建筑楼层：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设备：</a:t>
            </a:r>
            <a:r>
              <a:rPr lang="en-US" altLang="zh-CN" sz="1200">
                <a:highlight>
                  <a:srgbClr val="FFFF00"/>
                </a:highlight>
              </a:rPr>
              <a:t>1</a:t>
            </a:r>
            <a:r>
              <a:rPr lang="en-US" altLang="zh-CN" sz="1200">
                <a:highlight>
                  <a:srgbClr val="FFFF00"/>
                </a:highlight>
              </a:rPr>
              <a:t>800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在线：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离线：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告警：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此处统计该建筑楼层及设备数量</a:t>
            </a:r>
            <a:endParaRPr lang="zh-CN" altLang="en-US" sz="1200">
              <a:highlight>
                <a:srgbClr val="FFFF00"/>
              </a:highligh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71090" y="1537335"/>
            <a:ext cx="757555" cy="6521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编辑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1135" y="1537335"/>
            <a:ext cx="26523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highlight>
                  <a:srgbClr val="FFFF00"/>
                </a:highlight>
              </a:rPr>
              <a:t>编辑用于替换背景图片，默认有简单图片，提高客户辨识度</a:t>
            </a:r>
            <a:endParaRPr lang="zh-CN" sz="1200">
              <a:highlight>
                <a:srgbClr val="FFFF00"/>
              </a:highlight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24885" y="1564640"/>
            <a:ext cx="109982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导入楼层图纸</a:t>
            </a:r>
            <a:endParaRPr lang="zh-CN" sz="1200"/>
          </a:p>
        </p:txBody>
      </p:sp>
      <p:grpSp>
        <p:nvGrpSpPr>
          <p:cNvPr id="28" name="组合 27"/>
          <p:cNvGrpSpPr/>
          <p:nvPr/>
        </p:nvGrpSpPr>
        <p:grpSpPr>
          <a:xfrm>
            <a:off x="3329940" y="2419350"/>
            <a:ext cx="2652395" cy="1957705"/>
            <a:chOff x="5244" y="3450"/>
            <a:chExt cx="4177" cy="3083"/>
          </a:xfrm>
        </p:grpSpPr>
        <p:sp>
          <p:nvSpPr>
            <p:cNvPr id="8" name="文本框 7"/>
            <p:cNvSpPr txBox="1"/>
            <p:nvPr/>
          </p:nvSpPr>
          <p:spPr>
            <a:xfrm>
              <a:off x="5244" y="3450"/>
              <a:ext cx="417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200"/>
                <a:t>点击导入楼层图纸，弹出对话框</a:t>
              </a:r>
              <a:endParaRPr lang="zh-CN" sz="1200"/>
            </a:p>
          </p:txBody>
        </p:sp>
        <p:sp>
          <p:nvSpPr>
            <p:cNvPr id="27" name="矩形 26"/>
            <p:cNvSpPr/>
            <p:nvPr/>
          </p:nvSpPr>
          <p:spPr>
            <a:xfrm>
              <a:off x="5504" y="3915"/>
              <a:ext cx="3143" cy="2618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zh-CN" altLang="en-US" sz="1200"/>
                <a:t>楼层选择：</a:t>
              </a:r>
              <a:r>
                <a:rPr lang="en-US" altLang="zh-CN" sz="1200"/>
                <a:t>1,2,3,4,5,6,7,8,9</a:t>
              </a:r>
              <a:endParaRPr lang="en-US" altLang="zh-CN" sz="1200"/>
            </a:p>
            <a:p>
              <a:pPr algn="l"/>
              <a:r>
                <a:rPr lang="zh-CN" altLang="en-US" sz="1200"/>
                <a:t>设备数量：输入（必填）</a:t>
              </a:r>
              <a:endParaRPr lang="zh-CN" altLang="en-US" sz="1200"/>
            </a:p>
            <a:p>
              <a:pPr algn="l"/>
              <a:r>
                <a:rPr lang="zh-CN" altLang="en-US" sz="1200"/>
                <a:t>图纸导入：</a:t>
              </a:r>
              <a:endParaRPr lang="zh-CN" altLang="en-US" sz="1200"/>
            </a:p>
            <a:p>
              <a:pPr algn="l"/>
              <a:r>
                <a:rPr lang="zh-CN" altLang="en-US" sz="1200"/>
                <a:t>图纸导入后，主页面显示图纸和对应编号，注意可以新增编号，通过修改图纸</a:t>
              </a:r>
              <a:endParaRPr lang="zh-CN" altLang="en-US" sz="1200"/>
            </a:p>
          </p:txBody>
        </p:sp>
      </p:grpSp>
      <p:sp>
        <p:nvSpPr>
          <p:cNvPr id="11" name="矩形 10"/>
          <p:cNvSpPr/>
          <p:nvPr/>
        </p:nvSpPr>
        <p:spPr>
          <a:xfrm>
            <a:off x="4717415" y="1564640"/>
            <a:ext cx="109982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楼层</a:t>
            </a:r>
            <a:endParaRPr lang="zh-CN" sz="1200"/>
          </a:p>
        </p:txBody>
      </p:sp>
      <p:sp>
        <p:nvSpPr>
          <p:cNvPr id="26" name="文本框 25"/>
          <p:cNvSpPr txBox="1"/>
          <p:nvPr/>
        </p:nvSpPr>
        <p:spPr>
          <a:xfrm>
            <a:off x="5078095" y="1997710"/>
            <a:ext cx="3021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楼层可选，选择哪个楼层，下面弹出楼层图纸，同时该按钮显示在当前楼层</a:t>
            </a:r>
            <a:endParaRPr lang="zh-CN" sz="1200"/>
          </a:p>
        </p:txBody>
      </p:sp>
      <p:cxnSp>
        <p:nvCxnSpPr>
          <p:cNvPr id="29" name="直接箭头连接符 28"/>
          <p:cNvCxnSpPr>
            <a:stCxn id="27" idx="0"/>
          </p:cNvCxnSpPr>
          <p:nvPr/>
        </p:nvCxnSpPr>
        <p:spPr>
          <a:xfrm flipH="1" flipV="1">
            <a:off x="4184650" y="1966595"/>
            <a:ext cx="308610" cy="7480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6" idx="1"/>
          </p:cNvCxnSpPr>
          <p:nvPr/>
        </p:nvCxnSpPr>
        <p:spPr>
          <a:xfrm flipH="1" flipV="1">
            <a:off x="4932045" y="1918335"/>
            <a:ext cx="146050" cy="3098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5886450" y="1564640"/>
            <a:ext cx="142621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添加设备</a:t>
            </a:r>
            <a:endParaRPr lang="zh-CN" sz="1200"/>
          </a:p>
        </p:txBody>
      </p:sp>
      <p:sp>
        <p:nvSpPr>
          <p:cNvPr id="35" name="文本框 34"/>
          <p:cNvSpPr txBox="1"/>
          <p:nvPr/>
        </p:nvSpPr>
        <p:spPr>
          <a:xfrm>
            <a:off x="5834380" y="2564447"/>
            <a:ext cx="5080000" cy="737235"/>
          </a:xfrm>
          <a:prstGeom prst="rect">
            <a:avLst/>
          </a:prstGeom>
        </p:spPr>
        <p:txBody>
          <a:bodyPr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atin typeface="Calibri" panose="020F0502020204030204"/>
                <a:ea typeface="宋体" panose="02010600030101010101" pitchFamily="2" charset="-122"/>
              </a:rPr>
              <a:t>平面图导入，可更新，图纸可以放大。导入成功后，添加设备拖拽到平面图指定位置，设备按照标号显示如</a:t>
            </a:r>
            <a:r>
              <a:rPr lang="en-US" altLang="zh-CN" sz="1400">
                <a:latin typeface="Calibri" panose="020F0502020204030204"/>
                <a:ea typeface="宋体" panose="02010600030101010101" pitchFamily="2" charset="-122"/>
              </a:rPr>
              <a:t>1,2,3.....</a:t>
            </a:r>
            <a:r>
              <a:rPr lang="zh-CN" altLang="en-US" sz="1400">
                <a:latin typeface="Calibri" panose="020F0502020204030204"/>
                <a:ea typeface="宋体" panose="02010600030101010101" pitchFamily="2" charset="-122"/>
              </a:rPr>
              <a:t>，图纸默认左上角为第一个，比如通过批量导入的会按此顺序自动编排。</a:t>
            </a:r>
            <a:endParaRPr lang="zh-CN" altLang="en-US" sz="1400"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598795" y="3216910"/>
            <a:ext cx="4467860" cy="2680335"/>
            <a:chOff x="8817" y="5066"/>
            <a:chExt cx="7036" cy="4221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17" y="5069"/>
              <a:ext cx="7037" cy="4219"/>
            </a:xfrm>
            <a:prstGeom prst="rect">
              <a:avLst/>
            </a:prstGeom>
          </p:spPr>
        </p:pic>
        <p:sp>
          <p:nvSpPr>
            <p:cNvPr id="36" name="文本框 35"/>
            <p:cNvSpPr txBox="1"/>
            <p:nvPr/>
          </p:nvSpPr>
          <p:spPr>
            <a:xfrm>
              <a:off x="10210" y="5113"/>
              <a:ext cx="57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1850" y="5066"/>
              <a:ext cx="57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3490" y="5066"/>
              <a:ext cx="57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0929" y="6723"/>
              <a:ext cx="57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4503420" y="5689600"/>
            <a:ext cx="6877685" cy="11684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atin typeface="Calibri" panose="020F0502020204030204"/>
                <a:ea typeface="宋体" panose="02010600030101010101" pitchFamily="2" charset="-122"/>
              </a:rPr>
              <a:t>视图为平面包含各个设备在建筑物的位置。绿色表示正常设备、红色代表告警设备、灰色代表离线设备或者未安装设备。</a:t>
            </a:r>
            <a:endParaRPr lang="zh-CN" altLang="en-US" sz="14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atin typeface="Calibri" panose="020F0502020204030204"/>
                <a:ea typeface="宋体" panose="02010600030101010101" pitchFamily="2" charset="-122"/>
              </a:rPr>
              <a:t>点击红色告警设备，可选择查看参数和告警，选择告警，跳转到当前告警界面。点击绿色设备，看到运行参数，包含电源、电压、电流、各频段发射功率、射频、电源、风扇等参数。</a:t>
            </a:r>
            <a:endParaRPr lang="zh-CN" altLang="en-US" sz="1400"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305040" y="1560830"/>
            <a:ext cx="100203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返回</a:t>
            </a:r>
            <a:endParaRPr lang="zh-CN" altLang="en-US" sz="1200"/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69435" y="2094865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6. </a:t>
            </a:r>
            <a:r>
              <a:rPr lang="zh-CN" altLang="en-US" sz="1400"/>
              <a:t>点击添加设备，弹出对话框</a:t>
            </a:r>
            <a:endParaRPr lang="zh-CN" altLang="en-US" sz="1400"/>
          </a:p>
        </p:txBody>
      </p:sp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846455"/>
            <a:ext cx="8195945" cy="433070"/>
            <a:chOff x="679" y="1533"/>
            <a:chExt cx="12907" cy="682"/>
          </a:xfrm>
        </p:grpSpPr>
        <p:sp>
          <p:nvSpPr>
            <p:cNvPr id="14" name="矩形 13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15" name="矩形 14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7" name="矩形 6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015"/>
            <a:ext cx="3387090" cy="547116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31165" y="3139440"/>
            <a:ext cx="27495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highlight>
                  <a:srgbClr val="FFFF00"/>
                </a:highlight>
              </a:rPr>
              <a:t>楼层</a:t>
            </a:r>
            <a:r>
              <a:rPr lang="en-US" altLang="zh-CN">
                <a:highlight>
                  <a:srgbClr val="FFFF00"/>
                </a:highlight>
              </a:rPr>
              <a:t>1</a:t>
            </a:r>
            <a:endParaRPr lang="en-US" altLang="zh-CN">
              <a:highlight>
                <a:srgbClr val="FFFF00"/>
              </a:highlight>
            </a:endParaRPr>
          </a:p>
          <a:p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设备：</a:t>
            </a:r>
            <a:r>
              <a:rPr lang="en-US" altLang="zh-CN" sz="1200">
                <a:highlight>
                  <a:srgbClr val="FFFF00"/>
                </a:highlight>
              </a:rPr>
              <a:t>1</a:t>
            </a:r>
            <a:r>
              <a:rPr lang="en-US" altLang="zh-CN" sz="1200">
                <a:highlight>
                  <a:srgbClr val="FFFF00"/>
                </a:highlight>
              </a:rPr>
              <a:t>800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在线：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离线：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告警：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此处统计该建筑设备数量</a:t>
            </a:r>
            <a:endParaRPr lang="zh-CN" altLang="en-US" sz="1200">
              <a:highlight>
                <a:srgbClr val="FFFF00"/>
              </a:highligh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71090" y="1537335"/>
            <a:ext cx="757555" cy="6521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编辑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1135" y="1537335"/>
            <a:ext cx="26523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highlight>
                  <a:srgbClr val="FFFF00"/>
                </a:highlight>
              </a:rPr>
              <a:t>编辑用于替换背景图片，默认有简单图片，提高客户辨识度</a:t>
            </a:r>
            <a:endParaRPr lang="zh-CN" sz="1200">
              <a:highlight>
                <a:srgbClr val="FFFF00"/>
              </a:highlight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24885" y="1564640"/>
            <a:ext cx="109982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导入楼层图纸</a:t>
            </a:r>
            <a:endParaRPr lang="zh-CN" sz="1200"/>
          </a:p>
        </p:txBody>
      </p:sp>
      <p:sp>
        <p:nvSpPr>
          <p:cNvPr id="11" name="矩形 10"/>
          <p:cNvSpPr/>
          <p:nvPr/>
        </p:nvSpPr>
        <p:spPr>
          <a:xfrm>
            <a:off x="4717415" y="1564640"/>
            <a:ext cx="109982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楼层</a:t>
            </a:r>
            <a:endParaRPr lang="zh-CN" sz="1200"/>
          </a:p>
        </p:txBody>
      </p:sp>
      <p:sp>
        <p:nvSpPr>
          <p:cNvPr id="31" name="矩形 30"/>
          <p:cNvSpPr/>
          <p:nvPr/>
        </p:nvSpPr>
        <p:spPr>
          <a:xfrm>
            <a:off x="5886450" y="1564640"/>
            <a:ext cx="142621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添加设备</a:t>
            </a:r>
            <a:endParaRPr lang="zh-CN" sz="1200"/>
          </a:p>
        </p:txBody>
      </p:sp>
      <p:sp>
        <p:nvSpPr>
          <p:cNvPr id="33" name="矩形 32"/>
          <p:cNvSpPr/>
          <p:nvPr/>
        </p:nvSpPr>
        <p:spPr>
          <a:xfrm>
            <a:off x="7381875" y="1560830"/>
            <a:ext cx="109982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设备管理</a:t>
            </a:r>
            <a:endParaRPr lang="zh-CN" sz="1200"/>
          </a:p>
        </p:txBody>
      </p: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182745" y="2724150"/>
            <a:ext cx="1747520" cy="347662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屏蔽仪图片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930265" y="2724150"/>
            <a:ext cx="5267960" cy="3476625"/>
          </a:xfrm>
          <a:prstGeom prst="rect">
            <a:avLst/>
          </a:prstGeom>
          <a:solidFill>
            <a:schemeClr val="accent4">
              <a:lumMod val="75000"/>
              <a:alpha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>
                <a:solidFill>
                  <a:schemeClr val="tx1"/>
                </a:solidFill>
              </a:rPr>
              <a:t>1. </a:t>
            </a:r>
            <a:r>
              <a:rPr lang="zh-CN" altLang="en-US" sz="1200">
                <a:solidFill>
                  <a:schemeClr val="tx1"/>
                </a:solidFill>
              </a:rPr>
              <a:t>监狱（自动填入，根据客户选择的监狱输入）</a:t>
            </a:r>
            <a:endParaRPr lang="zh-CN" altLang="en-US" sz="1200">
              <a:solidFill>
                <a:schemeClr val="tx1"/>
              </a:solidFill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</a:rPr>
              <a:t>2. </a:t>
            </a:r>
            <a:r>
              <a:rPr lang="zh-CN" altLang="en-US" sz="1200">
                <a:solidFill>
                  <a:schemeClr val="tx1"/>
                </a:solidFill>
              </a:rPr>
              <a:t>建筑名称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（自动填入，根据客户上一页面选择）</a:t>
            </a:r>
            <a:endParaRPr lang="zh-CN" altLang="en-US" sz="1200">
              <a:solidFill>
                <a:schemeClr val="tx1"/>
              </a:solidFill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</a:rPr>
              <a:t>3.</a:t>
            </a:r>
            <a:r>
              <a:rPr lang="zh-CN" altLang="en-US" sz="1200">
                <a:solidFill>
                  <a:schemeClr val="tx1"/>
                </a:solidFill>
              </a:rPr>
              <a:t>及楼层（自动填入，根据客户上一页面选择）</a:t>
            </a:r>
            <a:endParaRPr lang="zh-CN" altLang="en-US" sz="1200">
              <a:solidFill>
                <a:schemeClr val="tx1"/>
              </a:solidFill>
            </a:endParaRPr>
          </a:p>
          <a:p>
            <a:pPr algn="l"/>
            <a:r>
              <a:rPr lang="en-US" sz="1200">
                <a:solidFill>
                  <a:schemeClr val="tx1"/>
                </a:solidFill>
                <a:sym typeface="+mn-ea"/>
              </a:rPr>
              <a:t>4. 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设备编号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（自动填写，根据该楼层已有数量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+1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编号，或由客户自己编写，可编辑）如果后续客户拖拽到不同位置，相应编号要自动改变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  <a:p>
            <a:pPr algn="l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930265" y="2724150"/>
            <a:ext cx="109982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基本信息</a:t>
            </a:r>
            <a:endParaRPr lang="zh-CN" sz="1200"/>
          </a:p>
        </p:txBody>
      </p:sp>
      <p:sp>
        <p:nvSpPr>
          <p:cNvPr id="41" name="矩形 40"/>
          <p:cNvSpPr/>
          <p:nvPr/>
        </p:nvSpPr>
        <p:spPr>
          <a:xfrm>
            <a:off x="7063740" y="2724150"/>
            <a:ext cx="109982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设备配置</a:t>
            </a:r>
            <a:endParaRPr lang="zh-CN" sz="1200"/>
          </a:p>
        </p:txBody>
      </p:sp>
      <p:sp>
        <p:nvSpPr>
          <p:cNvPr id="35" name="矩形 34"/>
          <p:cNvSpPr/>
          <p:nvPr/>
        </p:nvSpPr>
        <p:spPr>
          <a:xfrm>
            <a:off x="10052685" y="5440045"/>
            <a:ext cx="1002030" cy="43307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保存</a:t>
            </a:r>
            <a:endParaRPr lang="zh-CN" altLang="en-US" sz="1200"/>
          </a:p>
        </p:txBody>
      </p:sp>
      <p:sp>
        <p:nvSpPr>
          <p:cNvPr id="36" name="矩形 35"/>
          <p:cNvSpPr/>
          <p:nvPr/>
        </p:nvSpPr>
        <p:spPr>
          <a:xfrm>
            <a:off x="8197215" y="2724150"/>
            <a:ext cx="100203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返回</a:t>
            </a:r>
            <a:endParaRPr lang="zh-CN" altLang="en-US" sz="1200"/>
          </a:p>
        </p:txBody>
      </p:sp>
      <p:pic>
        <p:nvPicPr>
          <p:cNvPr id="8" name="图片 7" descr="圆环箭头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420" y="4747895"/>
            <a:ext cx="300355" cy="300355"/>
          </a:xfrm>
          <a:prstGeom prst="rect">
            <a:avLst/>
          </a:prstGeom>
        </p:spPr>
      </p:pic>
      <p:pic>
        <p:nvPicPr>
          <p:cNvPr id="26" name="图片 25" descr="圆环箭头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4750" y="4747895"/>
            <a:ext cx="300355" cy="30035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6139180" y="5213985"/>
            <a:ext cx="26523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屏蔽仪图片下面有两个按钮，一个是开，一个是关，开的颜色是绿色的关的颜色是灰色的。默认是开的</a:t>
            </a:r>
            <a:endParaRPr lang="zh-CN" altLang="en-US" sz="1200"/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5372100" y="4992370"/>
            <a:ext cx="1028700" cy="146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69435" y="2094865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6. </a:t>
            </a:r>
            <a:r>
              <a:rPr lang="zh-CN" altLang="en-US" sz="1400"/>
              <a:t>点击设备配置，弹出对话框</a:t>
            </a:r>
            <a:endParaRPr lang="zh-CN" altLang="en-US" sz="1400"/>
          </a:p>
        </p:txBody>
      </p:sp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846455"/>
            <a:ext cx="8195945" cy="433070"/>
            <a:chOff x="679" y="1533"/>
            <a:chExt cx="12907" cy="682"/>
          </a:xfrm>
        </p:grpSpPr>
        <p:sp>
          <p:nvSpPr>
            <p:cNvPr id="14" name="矩形 13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15" name="矩形 14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7" name="矩形 6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015"/>
            <a:ext cx="3387090" cy="547116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31165" y="3139440"/>
            <a:ext cx="27495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highlight>
                  <a:srgbClr val="FFFF00"/>
                </a:highlight>
              </a:rPr>
              <a:t>楼层</a:t>
            </a:r>
            <a:r>
              <a:rPr lang="en-US" altLang="zh-CN">
                <a:highlight>
                  <a:srgbClr val="FFFF00"/>
                </a:highlight>
              </a:rPr>
              <a:t>1</a:t>
            </a:r>
            <a:endParaRPr lang="en-US" altLang="zh-CN">
              <a:highlight>
                <a:srgbClr val="FFFF00"/>
              </a:highlight>
            </a:endParaRPr>
          </a:p>
          <a:p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设备：</a:t>
            </a:r>
            <a:r>
              <a:rPr lang="en-US" altLang="zh-CN" sz="1200">
                <a:highlight>
                  <a:srgbClr val="FFFF00"/>
                </a:highlight>
              </a:rPr>
              <a:t>1</a:t>
            </a:r>
            <a:r>
              <a:rPr lang="en-US" altLang="zh-CN" sz="1200">
                <a:highlight>
                  <a:srgbClr val="FFFF00"/>
                </a:highlight>
              </a:rPr>
              <a:t>800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在线：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离线：</a:t>
            </a:r>
            <a:endParaRPr lang="zh-CN" altLang="en-US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告警：</a:t>
            </a:r>
            <a:endParaRPr lang="en-US" altLang="zh-CN" sz="1200">
              <a:highlight>
                <a:srgbClr val="FFFF00"/>
              </a:highlight>
            </a:endParaRPr>
          </a:p>
          <a:p>
            <a:r>
              <a:rPr lang="zh-CN" altLang="en-US" sz="1200">
                <a:highlight>
                  <a:srgbClr val="FFFF00"/>
                </a:highlight>
              </a:rPr>
              <a:t>此处统计该建筑设备数量</a:t>
            </a:r>
            <a:endParaRPr lang="zh-CN" altLang="en-US" sz="1200">
              <a:highlight>
                <a:srgbClr val="FFFF00"/>
              </a:highligh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71090" y="1537335"/>
            <a:ext cx="757555" cy="6521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编辑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1135" y="1537335"/>
            <a:ext cx="26523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>
                <a:highlight>
                  <a:srgbClr val="FFFF00"/>
                </a:highlight>
              </a:rPr>
              <a:t>编辑用于替换背景图片，默认有简单图片，提高客户辨识度</a:t>
            </a:r>
            <a:endParaRPr lang="zh-CN" sz="1200">
              <a:highlight>
                <a:srgbClr val="FFFF00"/>
              </a:highlight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24885" y="1564640"/>
            <a:ext cx="109982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导入楼层图纸</a:t>
            </a:r>
            <a:endParaRPr lang="zh-CN" sz="1200"/>
          </a:p>
        </p:txBody>
      </p:sp>
      <p:sp>
        <p:nvSpPr>
          <p:cNvPr id="11" name="矩形 10"/>
          <p:cNvSpPr/>
          <p:nvPr/>
        </p:nvSpPr>
        <p:spPr>
          <a:xfrm>
            <a:off x="4717415" y="1564640"/>
            <a:ext cx="109982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楼层</a:t>
            </a:r>
            <a:endParaRPr lang="zh-CN" sz="1200"/>
          </a:p>
        </p:txBody>
      </p:sp>
      <p:sp>
        <p:nvSpPr>
          <p:cNvPr id="31" name="矩形 30"/>
          <p:cNvSpPr/>
          <p:nvPr/>
        </p:nvSpPr>
        <p:spPr>
          <a:xfrm>
            <a:off x="5886450" y="1564640"/>
            <a:ext cx="142621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添加设备</a:t>
            </a:r>
            <a:endParaRPr lang="zh-CN" sz="1200"/>
          </a:p>
        </p:txBody>
      </p: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182745" y="2724150"/>
            <a:ext cx="1747520" cy="334645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屏蔽仪图片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930265" y="2724150"/>
            <a:ext cx="5337175" cy="3331845"/>
          </a:xfrm>
          <a:prstGeom prst="rect">
            <a:avLst/>
          </a:prstGeom>
          <a:solidFill>
            <a:schemeClr val="accent4">
              <a:lumMod val="75000"/>
              <a:alpha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930265" y="2724150"/>
            <a:ext cx="109982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基本信息</a:t>
            </a:r>
            <a:endParaRPr lang="zh-CN" sz="1200"/>
          </a:p>
        </p:txBody>
      </p:sp>
      <p:sp>
        <p:nvSpPr>
          <p:cNvPr id="41" name="矩形 40"/>
          <p:cNvSpPr/>
          <p:nvPr/>
        </p:nvSpPr>
        <p:spPr>
          <a:xfrm>
            <a:off x="7063740" y="2724150"/>
            <a:ext cx="1099820" cy="330835"/>
          </a:xfrm>
          <a:prstGeom prst="rect">
            <a:avLst/>
          </a:prstGeom>
          <a:solidFill>
            <a:schemeClr val="accent1"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设备配置</a:t>
            </a:r>
            <a:endParaRPr lang="zh-CN" sz="12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49775"/>
            <a:ext cx="3383280" cy="107124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102985" y="4109720"/>
            <a:ext cx="4564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功率调节，</a:t>
            </a:r>
            <a:r>
              <a:rPr lang="en-US" altLang="zh-CN" sz="1200"/>
              <a:t>18</a:t>
            </a:r>
            <a:r>
              <a:rPr lang="zh-CN" altLang="en-US" sz="1200"/>
              <a:t>个</a:t>
            </a:r>
            <a:r>
              <a:rPr lang="en-US" altLang="zh-CN" sz="1200"/>
              <a:t>channel</a:t>
            </a:r>
            <a:r>
              <a:rPr lang="zh-CN" altLang="en-US" sz="1200"/>
              <a:t>，调节后可以保存，功率从零开始，如果滑到</a:t>
            </a:r>
            <a:r>
              <a:rPr lang="en-US" altLang="zh-CN" sz="1200"/>
              <a:t>0</a:t>
            </a:r>
            <a:r>
              <a:rPr lang="zh-CN" altLang="en-US" sz="1200"/>
              <a:t>，则图形线条变成红色，表示改</a:t>
            </a:r>
            <a:r>
              <a:rPr lang="en-US" altLang="zh-CN" sz="1200"/>
              <a:t>channel</a:t>
            </a:r>
            <a:r>
              <a:rPr lang="zh-CN" altLang="en-US" sz="1200"/>
              <a:t>关闭</a:t>
            </a:r>
            <a:endParaRPr lang="zh-CN" alt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6102985" y="3139440"/>
            <a:ext cx="30213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设备全网编号（用于全网唯一编码，与上一页面单独楼层编码不一样）</a:t>
            </a:r>
            <a:r>
              <a:rPr lang="en-US" sz="1200"/>
              <a:t>IP</a:t>
            </a:r>
            <a:r>
              <a:rPr lang="zh-CN" altLang="en-US" sz="1200"/>
              <a:t>网络配置，端口等信息，设置好后有个连接按钮进行测试是否连通，然后保存</a:t>
            </a:r>
            <a:endParaRPr lang="zh-CN" altLang="en-US" sz="1200"/>
          </a:p>
        </p:txBody>
      </p:sp>
      <p:sp>
        <p:nvSpPr>
          <p:cNvPr id="35" name="矩形 34"/>
          <p:cNvSpPr/>
          <p:nvPr/>
        </p:nvSpPr>
        <p:spPr>
          <a:xfrm>
            <a:off x="10052685" y="5440045"/>
            <a:ext cx="1002030" cy="43307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保存</a:t>
            </a:r>
            <a:endParaRPr lang="zh-CN" altLang="en-US" sz="1200"/>
          </a:p>
        </p:txBody>
      </p:sp>
      <p:sp>
        <p:nvSpPr>
          <p:cNvPr id="36" name="矩形 35"/>
          <p:cNvSpPr/>
          <p:nvPr/>
        </p:nvSpPr>
        <p:spPr>
          <a:xfrm>
            <a:off x="8163560" y="2724150"/>
            <a:ext cx="1002030" cy="33083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返回</a:t>
            </a:r>
            <a:endParaRPr lang="zh-CN" altLang="en-US" sz="1200"/>
          </a:p>
        </p:txBody>
      </p:sp>
      <p:sp>
        <p:nvSpPr>
          <p:cNvPr id="27" name="文本框 26"/>
          <p:cNvSpPr txBox="1"/>
          <p:nvPr/>
        </p:nvSpPr>
        <p:spPr>
          <a:xfrm>
            <a:off x="6102985" y="5702935"/>
            <a:ext cx="3796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工作时间：</a:t>
            </a:r>
            <a:r>
              <a:rPr lang="en-US" altLang="zh-CN" sz="1200"/>
              <a:t>24</a:t>
            </a:r>
            <a:r>
              <a:rPr lang="zh-CN" altLang="en-US" sz="1200"/>
              <a:t>小时内可以选择</a:t>
            </a:r>
            <a:r>
              <a:rPr lang="en-US" altLang="zh-CN" sz="1200"/>
              <a:t> </a:t>
            </a:r>
            <a:r>
              <a:rPr lang="zh-CN" altLang="en-US" sz="1200"/>
              <a:t>起始时间</a:t>
            </a:r>
            <a:r>
              <a:rPr lang="en-US" altLang="zh-CN" sz="1200"/>
              <a:t>--- </a:t>
            </a:r>
            <a:r>
              <a:rPr lang="zh-CN" altLang="en-US" sz="1200"/>
              <a:t>停止时间</a:t>
            </a:r>
            <a:endParaRPr lang="zh-CN" altLang="en-US" sz="1200"/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第二部分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4800"/>
              <a:t>用户管理</a:t>
            </a:r>
            <a:endParaRPr lang="zh-CN" altLang="en-US" sz="4800"/>
          </a:p>
        </p:txBody>
      </p:sp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580880" y="168910"/>
            <a:ext cx="2134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10895" y="619125"/>
            <a:ext cx="10796905" cy="27997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超级管理：负责管理国家、地区、监狱、建筑物名、楼层、设备，具有整网所有地区管理权限。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Logo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修改只能由超级管理员修改。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管理员：地区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-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监狱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-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建筑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-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楼层，具备所属地区管理权限，权限由“超级管理员分配”。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普通用户：监狱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-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建筑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-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楼层，权限由“超级管理员”或“管理员”分配。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chemeClr val="accent6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chemeClr val="accent6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6"/>
                </a:solidFill>
                <a:latin typeface="Calibri" panose="020F0502020204030204"/>
                <a:ea typeface="宋体" panose="02010600030101010101" pitchFamily="2" charset="-122"/>
              </a:rPr>
              <a:t>同时设有一个临时超级管理用户：用于与设备调试，代理商安装调试时使用，要有时间限制，用以保护该软件不被第三方非法利用。看是否有后台可以控制。</a:t>
            </a:r>
            <a:endParaRPr lang="zh-CN" altLang="en-US" sz="1600" b="1">
              <a:solidFill>
                <a:schemeClr val="accent6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001000" y="1562735"/>
            <a:ext cx="38925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1. </a:t>
            </a:r>
            <a:r>
              <a:rPr lang="zh-CN" sz="1400"/>
              <a:t>超级管理员点击用户管理，弹出界面</a:t>
            </a:r>
            <a:endParaRPr lang="zh-CN" sz="1400"/>
          </a:p>
        </p:txBody>
      </p:sp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3848735" y="2696210"/>
            <a:ext cx="7354570" cy="2023110"/>
            <a:chOff x="6696" y="2659"/>
            <a:chExt cx="11582" cy="3186"/>
          </a:xfrm>
        </p:grpSpPr>
        <p:sp>
          <p:nvSpPr>
            <p:cNvPr id="10" name="矩形 9"/>
            <p:cNvSpPr/>
            <p:nvPr/>
          </p:nvSpPr>
          <p:spPr>
            <a:xfrm>
              <a:off x="6696" y="2659"/>
              <a:ext cx="3704" cy="3186"/>
            </a:xfrm>
            <a:prstGeom prst="rect">
              <a:avLst/>
            </a:prstGeom>
            <a:solidFill>
              <a:schemeClr val="accent6">
                <a:alpha val="18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>
                  <a:solidFill>
                    <a:schemeClr val="tx1"/>
                  </a:solidFill>
                </a:rPr>
                <a:t>超级管理员</a:t>
              </a:r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0600" y="2659"/>
              <a:ext cx="3704" cy="3186"/>
            </a:xfrm>
            <a:prstGeom prst="rect">
              <a:avLst/>
            </a:prstGeom>
            <a:solidFill>
              <a:schemeClr val="accent3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>
                  <a:solidFill>
                    <a:schemeClr val="tx1"/>
                  </a:solidFill>
                </a:rPr>
                <a:t>省级管理员</a:t>
              </a:r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4574" y="2659"/>
              <a:ext cx="3704" cy="3186"/>
            </a:xfrm>
            <a:prstGeom prst="rect">
              <a:avLst/>
            </a:prstGeom>
            <a:solidFill>
              <a:schemeClr val="accent1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>
                  <a:solidFill>
                    <a:schemeClr val="tx1"/>
                  </a:solidFill>
                </a:rPr>
                <a:t>监狱管理员</a:t>
              </a:r>
              <a:endParaRPr lang="zh-CN">
                <a:solidFill>
                  <a:schemeClr val="tx1"/>
                </a:solidFill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098550" y="2904490"/>
            <a:ext cx="15100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超级管理员：</a:t>
            </a:r>
            <a:r>
              <a:rPr lang="en-US" altLang="zh-CN" sz="1200"/>
              <a:t>2</a:t>
            </a:r>
            <a:endParaRPr lang="zh-CN" sz="1200"/>
          </a:p>
          <a:p>
            <a:r>
              <a:rPr lang="zh-CN" sz="1200"/>
              <a:t>省级管理员：</a:t>
            </a:r>
            <a:r>
              <a:rPr lang="en-US" altLang="zh-CN" sz="1200"/>
              <a:t>13</a:t>
            </a:r>
            <a:endParaRPr lang="en-US" altLang="zh-CN" sz="1200"/>
          </a:p>
          <a:p>
            <a:r>
              <a:rPr lang="zh-CN" altLang="en-US" sz="1200"/>
              <a:t>监狱管理员：</a:t>
            </a:r>
            <a:r>
              <a:rPr lang="en-US" altLang="zh-CN" sz="1200"/>
              <a:t>36</a:t>
            </a:r>
            <a:endParaRPr lang="en-US" altLang="zh-CN" sz="1200"/>
          </a:p>
        </p:txBody>
      </p: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31165" y="1489710"/>
            <a:ext cx="3198495" cy="5368290"/>
            <a:chOff x="679" y="3655"/>
            <a:chExt cx="4180" cy="7145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" y="3655"/>
              <a:ext cx="4180" cy="298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" y="6640"/>
              <a:ext cx="4181" cy="4160"/>
            </a:xfrm>
            <a:prstGeom prst="rect">
              <a:avLst/>
            </a:prstGeom>
          </p:spPr>
        </p:pic>
      </p:grpSp>
      <p:sp>
        <p:nvSpPr>
          <p:cNvPr id="27" name="文本框 26"/>
          <p:cNvSpPr txBox="1"/>
          <p:nvPr/>
        </p:nvSpPr>
        <p:spPr>
          <a:xfrm>
            <a:off x="1198880" y="4201795"/>
            <a:ext cx="1645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Welcome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Administrator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848735" y="1814830"/>
            <a:ext cx="4988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2. </a:t>
            </a:r>
            <a:r>
              <a:rPr lang="zh-CN" sz="1400"/>
              <a:t>点击超级管理员，弹出对话框，只管理管理到</a:t>
            </a:r>
            <a:r>
              <a:rPr lang="zh-CN" sz="1400"/>
              <a:t>省</a:t>
            </a:r>
            <a:endParaRPr lang="zh-CN" sz="1400"/>
          </a:p>
        </p:txBody>
      </p:sp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848735" y="2461895"/>
            <a:ext cx="8136890" cy="3895725"/>
          </a:xfrm>
          <a:prstGeom prst="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65" y="1644015"/>
            <a:ext cx="3199130" cy="521398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195070" y="3527425"/>
            <a:ext cx="15100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左侧有个管理员列表树型图，管理员可以通过树形图快速定位到不同模块</a:t>
            </a:r>
            <a:endParaRPr lang="zh-CN" sz="1200"/>
          </a:p>
        </p:txBody>
      </p: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089400" y="2995930"/>
            <a:ext cx="1002030" cy="433070"/>
          </a:xfrm>
          <a:prstGeom prst="rect">
            <a:avLst/>
          </a:prstGeom>
          <a:solidFill>
            <a:schemeClr val="accent6">
              <a:lumMod val="20000"/>
              <a:lumOff val="80000"/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账号列表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253230" y="3429000"/>
            <a:ext cx="6997065" cy="433070"/>
          </a:xfrm>
          <a:prstGeom prst="rect">
            <a:avLst/>
          </a:prstGeom>
          <a:solidFill>
            <a:schemeClr val="accent5">
              <a:lumMod val="20000"/>
              <a:lumOff val="80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>
                <a:solidFill>
                  <a:schemeClr val="tx1"/>
                </a:solidFill>
              </a:rPr>
              <a:t>账户名</a:t>
            </a:r>
            <a:r>
              <a:rPr lang="en-US" altLang="zh-CN" sz="1200">
                <a:solidFill>
                  <a:schemeClr val="tx1"/>
                </a:solidFill>
              </a:rPr>
              <a:t>                      </a:t>
            </a:r>
            <a:r>
              <a:rPr lang="zh-CN" altLang="en-US" sz="1200">
                <a:solidFill>
                  <a:schemeClr val="tx1"/>
                </a:solidFill>
              </a:rPr>
              <a:t>昵称</a:t>
            </a:r>
            <a:r>
              <a:rPr lang="en-US" altLang="zh-CN" sz="1200">
                <a:solidFill>
                  <a:schemeClr val="tx1"/>
                </a:solidFill>
              </a:rPr>
              <a:t>                      </a:t>
            </a:r>
            <a:r>
              <a:rPr lang="zh-CN" altLang="en-US" sz="1200">
                <a:solidFill>
                  <a:schemeClr val="tx1"/>
                </a:solidFill>
              </a:rPr>
              <a:t>管理区域</a:t>
            </a:r>
            <a:r>
              <a:rPr lang="en-US" altLang="zh-CN" sz="1200">
                <a:solidFill>
                  <a:schemeClr val="tx1"/>
                </a:solidFill>
              </a:rPr>
              <a:t>             </a:t>
            </a:r>
            <a:r>
              <a:rPr lang="zh-CN" altLang="en-US" sz="1200">
                <a:solidFill>
                  <a:schemeClr val="tx1"/>
                </a:solidFill>
              </a:rPr>
              <a:t>功能授权</a:t>
            </a:r>
            <a:r>
              <a:rPr lang="en-US" altLang="zh-CN" sz="1200">
                <a:solidFill>
                  <a:schemeClr val="tx1"/>
                </a:solidFill>
              </a:rPr>
              <a:t>            </a:t>
            </a:r>
            <a:r>
              <a:rPr lang="zh-CN" altLang="en-US" sz="1200">
                <a:solidFill>
                  <a:schemeClr val="tx1"/>
                </a:solidFill>
              </a:rPr>
              <a:t>密码修改</a:t>
            </a:r>
            <a:r>
              <a:rPr lang="en-US" altLang="zh-CN" sz="1200">
                <a:solidFill>
                  <a:schemeClr val="tx1"/>
                </a:solidFill>
              </a:rPr>
              <a:t>              </a:t>
            </a:r>
            <a:r>
              <a:rPr lang="zh-CN" altLang="en-US" sz="1200">
                <a:solidFill>
                  <a:schemeClr val="tx1"/>
                </a:solidFill>
              </a:rPr>
              <a:t>账号删除</a:t>
            </a:r>
            <a:r>
              <a:rPr lang="en-US" altLang="zh-CN" sz="1200">
                <a:solidFill>
                  <a:schemeClr val="tx1"/>
                </a:solidFill>
              </a:rPr>
              <a:t>                 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34815" y="4040505"/>
            <a:ext cx="35344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101                            mohammed             </a:t>
            </a:r>
            <a:endParaRPr lang="en-US" altLang="zh-CN" sz="1200"/>
          </a:p>
          <a:p>
            <a:r>
              <a:rPr lang="en-US" altLang="zh-CN" sz="1200"/>
              <a:t>102                            Ahmed                                     </a:t>
            </a:r>
            <a:endParaRPr lang="en-US" altLang="zh-CN" sz="1200"/>
          </a:p>
        </p:txBody>
      </p:sp>
      <p:sp>
        <p:nvSpPr>
          <p:cNvPr id="32" name="矩形 31"/>
          <p:cNvSpPr/>
          <p:nvPr/>
        </p:nvSpPr>
        <p:spPr>
          <a:xfrm>
            <a:off x="4253230" y="4500880"/>
            <a:ext cx="694690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新建</a:t>
            </a:r>
            <a:endParaRPr lang="zh-CN" altLang="en-US" sz="900"/>
          </a:p>
        </p:txBody>
      </p:sp>
      <p:sp>
        <p:nvSpPr>
          <p:cNvPr id="36" name="矩形 35"/>
          <p:cNvSpPr/>
          <p:nvPr/>
        </p:nvSpPr>
        <p:spPr>
          <a:xfrm>
            <a:off x="4253230" y="2613025"/>
            <a:ext cx="1002030" cy="43307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返回</a:t>
            </a:r>
            <a:endParaRPr lang="zh-CN" altLang="en-US" sz="1200"/>
          </a:p>
        </p:txBody>
      </p:sp>
      <p:sp>
        <p:nvSpPr>
          <p:cNvPr id="37" name="矩形 36"/>
          <p:cNvSpPr/>
          <p:nvPr/>
        </p:nvSpPr>
        <p:spPr>
          <a:xfrm>
            <a:off x="6955790" y="4040505"/>
            <a:ext cx="694690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全国</a:t>
            </a:r>
            <a:endParaRPr lang="zh-CN" altLang="en-US" sz="900"/>
          </a:p>
        </p:txBody>
      </p:sp>
      <p:sp>
        <p:nvSpPr>
          <p:cNvPr id="38" name="矩形 37"/>
          <p:cNvSpPr/>
          <p:nvPr/>
        </p:nvSpPr>
        <p:spPr>
          <a:xfrm>
            <a:off x="6955790" y="4304030"/>
            <a:ext cx="694690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省份</a:t>
            </a:r>
            <a:r>
              <a:rPr lang="en-US" altLang="zh-CN" sz="900"/>
              <a:t>1+</a:t>
            </a:r>
            <a:r>
              <a:rPr lang="zh-CN" altLang="en-US" sz="900"/>
              <a:t>省份</a:t>
            </a:r>
            <a:r>
              <a:rPr lang="en-US" altLang="zh-CN" sz="900"/>
              <a:t>2</a:t>
            </a:r>
            <a:endParaRPr lang="en-US" altLang="zh-CN" sz="900"/>
          </a:p>
        </p:txBody>
      </p:sp>
      <p:sp>
        <p:nvSpPr>
          <p:cNvPr id="39" name="文本框 38"/>
          <p:cNvSpPr txBox="1"/>
          <p:nvPr/>
        </p:nvSpPr>
        <p:spPr>
          <a:xfrm>
            <a:off x="6868795" y="2623185"/>
            <a:ext cx="26523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点击后弹出上节输入</a:t>
            </a:r>
            <a:r>
              <a:rPr lang="zh-CN" altLang="en-US" sz="1200"/>
              <a:t>省份</a:t>
            </a:r>
            <a:r>
              <a:rPr lang="en-US" altLang="zh-CN" sz="1200"/>
              <a:t>+1</a:t>
            </a:r>
            <a:r>
              <a:rPr lang="zh-CN" altLang="en-US" sz="1200"/>
              <a:t>个全国列表，</a:t>
            </a:r>
            <a:r>
              <a:rPr lang="zh-CN" sz="1200"/>
              <a:t>可多选，选中项背景色变深，或者</a:t>
            </a:r>
            <a:r>
              <a:rPr lang="en-US" altLang="zh-CN" sz="1200"/>
              <a:t>14</a:t>
            </a:r>
            <a:r>
              <a:rPr lang="zh-CN" altLang="en-US" sz="1200"/>
              <a:t>项前有可选框，打勾方式选择</a:t>
            </a:r>
            <a:endParaRPr lang="zh-CN" altLang="en-US" sz="1200"/>
          </a:p>
        </p:txBody>
      </p:sp>
      <p:cxnSp>
        <p:nvCxnSpPr>
          <p:cNvPr id="40" name="直接箭头连接符 39"/>
          <p:cNvCxnSpPr/>
          <p:nvPr/>
        </p:nvCxnSpPr>
        <p:spPr>
          <a:xfrm flipH="1">
            <a:off x="7524750" y="3299460"/>
            <a:ext cx="310515" cy="6883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6793865" y="4037330"/>
            <a:ext cx="5091430" cy="1880870"/>
            <a:chOff x="8873" y="6358"/>
            <a:chExt cx="8018" cy="2962"/>
          </a:xfrm>
        </p:grpSpPr>
        <p:sp>
          <p:nvSpPr>
            <p:cNvPr id="29" name="矩形 28"/>
            <p:cNvSpPr/>
            <p:nvPr/>
          </p:nvSpPr>
          <p:spPr>
            <a:xfrm>
              <a:off x="12751" y="6363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密码修改</a:t>
              </a:r>
              <a:endParaRPr lang="zh-CN" altLang="en-US" sz="900"/>
            </a:p>
          </p:txBody>
        </p:sp>
        <p:sp>
          <p:nvSpPr>
            <p:cNvPr id="30" name="矩形 29"/>
            <p:cNvSpPr/>
            <p:nvPr/>
          </p:nvSpPr>
          <p:spPr>
            <a:xfrm>
              <a:off x="12751" y="6685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密码修改</a:t>
              </a:r>
              <a:endParaRPr lang="zh-CN" altLang="en-US" sz="90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4642" y="6358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删除</a:t>
              </a:r>
              <a:endParaRPr lang="zh-CN" altLang="en-US" sz="900"/>
            </a:p>
          </p:txBody>
        </p:sp>
        <p:sp>
          <p:nvSpPr>
            <p:cNvPr id="34" name="矩形 33"/>
            <p:cNvSpPr/>
            <p:nvPr/>
          </p:nvSpPr>
          <p:spPr>
            <a:xfrm>
              <a:off x="14644" y="6734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删除</a:t>
              </a:r>
              <a:endParaRPr lang="zh-CN" altLang="en-US" sz="900"/>
            </a:p>
          </p:txBody>
        </p:sp>
        <p:sp>
          <p:nvSpPr>
            <p:cNvPr id="35" name="矩形 34"/>
            <p:cNvSpPr/>
            <p:nvPr/>
          </p:nvSpPr>
          <p:spPr>
            <a:xfrm>
              <a:off x="14652" y="8567"/>
              <a:ext cx="1578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保存</a:t>
              </a:r>
              <a:endParaRPr lang="zh-CN" altLang="en-US" sz="120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8873" y="8304"/>
              <a:ext cx="417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200"/>
                <a:t>点击密码修改，需要输入原有密码，然后输入至少六位数新密码。以及忘记密码，忘记密码验证问题</a:t>
              </a:r>
              <a:endParaRPr lang="zh-CN" sz="1200"/>
            </a:p>
          </p:txBody>
        </p:sp>
        <p:cxnSp>
          <p:nvCxnSpPr>
            <p:cNvPr id="42" name="直接箭头连接符 41"/>
            <p:cNvCxnSpPr/>
            <p:nvPr/>
          </p:nvCxnSpPr>
          <p:spPr>
            <a:xfrm flipV="1">
              <a:off x="11839" y="7149"/>
              <a:ext cx="1226" cy="110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13845" y="7459"/>
              <a:ext cx="30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200"/>
                <a:t>点击删除后要有对话框弹出，再次确认，避免误删</a:t>
              </a:r>
              <a:endParaRPr lang="zh-CN" sz="1200"/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6311900" y="2153920"/>
            <a:ext cx="37877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点击返回后，要有对话框提醒保存更改信息。</a:t>
            </a:r>
            <a:endParaRPr lang="zh-CN" sz="1200"/>
          </a:p>
        </p:txBody>
      </p:sp>
      <p:cxnSp>
        <p:nvCxnSpPr>
          <p:cNvPr id="45" name="直接箭头连接符 44"/>
          <p:cNvCxnSpPr/>
          <p:nvPr/>
        </p:nvCxnSpPr>
        <p:spPr>
          <a:xfrm flipH="1">
            <a:off x="5414645" y="2361565"/>
            <a:ext cx="937895" cy="446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8142605" y="4357370"/>
            <a:ext cx="694690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全部权限</a:t>
            </a:r>
            <a:endParaRPr lang="zh-CN" altLang="en-US" sz="900"/>
          </a:p>
        </p:txBody>
      </p:sp>
      <p:grpSp>
        <p:nvGrpSpPr>
          <p:cNvPr id="52" name="组合 51"/>
          <p:cNvGrpSpPr/>
          <p:nvPr/>
        </p:nvGrpSpPr>
        <p:grpSpPr>
          <a:xfrm>
            <a:off x="8144510" y="2606675"/>
            <a:ext cx="3929380" cy="1669415"/>
            <a:chOff x="12826" y="4105"/>
            <a:chExt cx="6188" cy="2629"/>
          </a:xfrm>
        </p:grpSpPr>
        <p:sp>
          <p:nvSpPr>
            <p:cNvPr id="48" name="矩形 47"/>
            <p:cNvSpPr/>
            <p:nvPr/>
          </p:nvSpPr>
          <p:spPr>
            <a:xfrm>
              <a:off x="12826" y="6364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全部权限</a:t>
              </a:r>
              <a:endParaRPr lang="zh-CN" altLang="en-US" sz="90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5194" y="4105"/>
              <a:ext cx="382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200"/>
                <a:t>功能授权包含了设备监控，设备管理，设备告警，数据统计，日志查看</a:t>
              </a:r>
              <a:endParaRPr lang="zh-CN" sz="1200"/>
            </a:p>
          </p:txBody>
        </p:sp>
        <p:cxnSp>
          <p:nvCxnSpPr>
            <p:cNvPr id="51" name="直接箭头连接符 50"/>
            <p:cNvCxnSpPr/>
            <p:nvPr/>
          </p:nvCxnSpPr>
          <p:spPr>
            <a:xfrm flipH="1">
              <a:off x="13690" y="5003"/>
              <a:ext cx="1504" cy="14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848735" y="1814830"/>
            <a:ext cx="4988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2. </a:t>
            </a:r>
            <a:r>
              <a:rPr lang="zh-CN" sz="1400"/>
              <a:t>点击省级管理员，弹出对话框</a:t>
            </a:r>
            <a:endParaRPr lang="zh-CN" sz="1400"/>
          </a:p>
        </p:txBody>
      </p:sp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848735" y="2461895"/>
            <a:ext cx="7993380" cy="3895725"/>
          </a:xfrm>
          <a:prstGeom prst="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089400" y="2995930"/>
            <a:ext cx="1002030" cy="433070"/>
          </a:xfrm>
          <a:prstGeom prst="rect">
            <a:avLst/>
          </a:prstGeom>
          <a:solidFill>
            <a:schemeClr val="accent6">
              <a:lumMod val="20000"/>
              <a:lumOff val="80000"/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账号列表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274185" y="3429000"/>
            <a:ext cx="7345680" cy="433070"/>
          </a:xfrm>
          <a:prstGeom prst="rect">
            <a:avLst/>
          </a:prstGeom>
          <a:solidFill>
            <a:schemeClr val="accent5">
              <a:lumMod val="20000"/>
              <a:lumOff val="80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>
                <a:solidFill>
                  <a:schemeClr val="tx1"/>
                </a:solidFill>
              </a:rPr>
              <a:t>账户名</a:t>
            </a:r>
            <a:r>
              <a:rPr lang="en-US" altLang="zh-CN" sz="1200">
                <a:solidFill>
                  <a:schemeClr val="tx1"/>
                </a:solidFill>
              </a:rPr>
              <a:t>                      </a:t>
            </a:r>
            <a:r>
              <a:rPr lang="zh-CN" altLang="en-US" sz="1200">
                <a:solidFill>
                  <a:schemeClr val="tx1"/>
                </a:solidFill>
              </a:rPr>
              <a:t>昵称</a:t>
            </a:r>
            <a:r>
              <a:rPr lang="en-US" altLang="zh-CN" sz="1200">
                <a:solidFill>
                  <a:schemeClr val="tx1"/>
                </a:solidFill>
              </a:rPr>
              <a:t>                      </a:t>
            </a:r>
            <a:r>
              <a:rPr lang="zh-CN" altLang="en-US" sz="1200">
                <a:solidFill>
                  <a:schemeClr val="tx1"/>
                </a:solidFill>
              </a:rPr>
              <a:t>管理区域</a:t>
            </a:r>
            <a:r>
              <a:rPr lang="en-US" altLang="zh-CN" sz="1200">
                <a:solidFill>
                  <a:schemeClr val="tx1"/>
                </a:solidFill>
              </a:rPr>
              <a:t>                 </a:t>
            </a:r>
            <a:r>
              <a:rPr lang="zh-CN" altLang="en-US" sz="1200">
                <a:solidFill>
                  <a:schemeClr val="tx1"/>
                </a:solidFill>
              </a:rPr>
              <a:t>功能权限</a:t>
            </a:r>
            <a:r>
              <a:rPr lang="en-US" altLang="zh-CN" sz="1200">
                <a:solidFill>
                  <a:schemeClr val="tx1"/>
                </a:solidFill>
              </a:rPr>
              <a:t>                 </a:t>
            </a:r>
            <a:r>
              <a:rPr lang="zh-CN" altLang="en-US" sz="1200">
                <a:solidFill>
                  <a:schemeClr val="tx1"/>
                </a:solidFill>
              </a:rPr>
              <a:t>密码修改</a:t>
            </a:r>
            <a:r>
              <a:rPr lang="en-US" altLang="zh-CN" sz="1200">
                <a:solidFill>
                  <a:schemeClr val="tx1"/>
                </a:solidFill>
              </a:rPr>
              <a:t>              </a:t>
            </a:r>
            <a:r>
              <a:rPr lang="zh-CN" altLang="en-US" sz="1200">
                <a:solidFill>
                  <a:schemeClr val="tx1"/>
                </a:solidFill>
              </a:rPr>
              <a:t>账号删除</a:t>
            </a:r>
            <a:r>
              <a:rPr lang="en-US" altLang="zh-CN" sz="1200">
                <a:solidFill>
                  <a:schemeClr val="tx1"/>
                </a:solidFill>
              </a:rPr>
              <a:t>                 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34815" y="4040505"/>
            <a:ext cx="35344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201                            mohammed             </a:t>
            </a:r>
            <a:endParaRPr lang="en-US" altLang="zh-CN" sz="1200"/>
          </a:p>
          <a:p>
            <a:r>
              <a:rPr lang="en-US" altLang="zh-CN" sz="1200"/>
              <a:t>202                            Ahmed                                     </a:t>
            </a:r>
            <a:endParaRPr lang="en-US" altLang="zh-CN" sz="1200"/>
          </a:p>
        </p:txBody>
      </p:sp>
      <p:sp>
        <p:nvSpPr>
          <p:cNvPr id="32" name="矩形 31"/>
          <p:cNvSpPr/>
          <p:nvPr/>
        </p:nvSpPr>
        <p:spPr>
          <a:xfrm>
            <a:off x="4253230" y="4500880"/>
            <a:ext cx="694690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新建</a:t>
            </a:r>
            <a:endParaRPr lang="zh-CN" altLang="en-US" sz="900"/>
          </a:p>
        </p:txBody>
      </p:sp>
      <p:sp>
        <p:nvSpPr>
          <p:cNvPr id="36" name="矩形 35"/>
          <p:cNvSpPr/>
          <p:nvPr/>
        </p:nvSpPr>
        <p:spPr>
          <a:xfrm>
            <a:off x="4253230" y="2613025"/>
            <a:ext cx="1002030" cy="43307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返回</a:t>
            </a:r>
            <a:endParaRPr lang="zh-CN" altLang="en-US" sz="1200"/>
          </a:p>
        </p:txBody>
      </p:sp>
      <p:sp>
        <p:nvSpPr>
          <p:cNvPr id="37" name="矩形 36"/>
          <p:cNvSpPr/>
          <p:nvPr/>
        </p:nvSpPr>
        <p:spPr>
          <a:xfrm>
            <a:off x="6774180" y="4040505"/>
            <a:ext cx="603885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利雅得省</a:t>
            </a:r>
            <a:endParaRPr lang="zh-CN" altLang="en-US" sz="900"/>
          </a:p>
        </p:txBody>
      </p:sp>
      <p:sp>
        <p:nvSpPr>
          <p:cNvPr id="38" name="矩形 37"/>
          <p:cNvSpPr/>
          <p:nvPr/>
        </p:nvSpPr>
        <p:spPr>
          <a:xfrm>
            <a:off x="6774180" y="4304030"/>
            <a:ext cx="603885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省份</a:t>
            </a:r>
            <a:r>
              <a:rPr lang="en-US" altLang="zh-CN" sz="900"/>
              <a:t>1</a:t>
            </a:r>
            <a:endParaRPr lang="zh-CN" sz="900"/>
          </a:p>
        </p:txBody>
      </p:sp>
      <p:sp>
        <p:nvSpPr>
          <p:cNvPr id="39" name="文本框 38"/>
          <p:cNvSpPr txBox="1"/>
          <p:nvPr/>
        </p:nvSpPr>
        <p:spPr>
          <a:xfrm>
            <a:off x="6257290" y="2529840"/>
            <a:ext cx="27508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点击后弹出上节录入</a:t>
            </a:r>
            <a:r>
              <a:rPr lang="zh-CN" altLang="en-US" sz="1200"/>
              <a:t>省份列表，</a:t>
            </a:r>
            <a:r>
              <a:rPr lang="zh-CN" sz="1200"/>
              <a:t>可多选，选中项背景色变深，或者</a:t>
            </a:r>
            <a:r>
              <a:rPr lang="zh-CN" altLang="en-US" sz="1200"/>
              <a:t>项前有可选框，打勾方式选择，同时新增监狱可选项，也是上节监狱录入的数据，</a:t>
            </a:r>
            <a:endParaRPr lang="zh-CN" altLang="en-US" sz="1200"/>
          </a:p>
        </p:txBody>
      </p:sp>
      <p:cxnSp>
        <p:nvCxnSpPr>
          <p:cNvPr id="40" name="直接箭头连接符 39"/>
          <p:cNvCxnSpPr/>
          <p:nvPr/>
        </p:nvCxnSpPr>
        <p:spPr>
          <a:xfrm flipH="1">
            <a:off x="7524750" y="3299460"/>
            <a:ext cx="310515" cy="6883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9211945" y="4569460"/>
            <a:ext cx="778510" cy="703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6968490" y="4037330"/>
            <a:ext cx="5091430" cy="1880870"/>
            <a:chOff x="8873" y="6358"/>
            <a:chExt cx="8018" cy="2962"/>
          </a:xfrm>
        </p:grpSpPr>
        <p:sp>
          <p:nvSpPr>
            <p:cNvPr id="29" name="矩形 28"/>
            <p:cNvSpPr/>
            <p:nvPr/>
          </p:nvSpPr>
          <p:spPr>
            <a:xfrm>
              <a:off x="13103" y="6363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密码修改</a:t>
              </a:r>
              <a:endParaRPr lang="zh-CN" altLang="en-US" sz="900"/>
            </a:p>
          </p:txBody>
        </p:sp>
        <p:sp>
          <p:nvSpPr>
            <p:cNvPr id="30" name="矩形 29"/>
            <p:cNvSpPr/>
            <p:nvPr/>
          </p:nvSpPr>
          <p:spPr>
            <a:xfrm>
              <a:off x="13103" y="6685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密码修改</a:t>
              </a:r>
              <a:endParaRPr lang="zh-CN" altLang="en-US" sz="90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4994" y="6358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删除</a:t>
              </a:r>
              <a:endParaRPr lang="zh-CN" altLang="en-US" sz="900"/>
            </a:p>
          </p:txBody>
        </p:sp>
        <p:sp>
          <p:nvSpPr>
            <p:cNvPr id="34" name="矩形 33"/>
            <p:cNvSpPr/>
            <p:nvPr/>
          </p:nvSpPr>
          <p:spPr>
            <a:xfrm>
              <a:off x="14996" y="6734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删除</a:t>
              </a:r>
              <a:endParaRPr lang="zh-CN" altLang="en-US" sz="900"/>
            </a:p>
          </p:txBody>
        </p:sp>
        <p:sp>
          <p:nvSpPr>
            <p:cNvPr id="35" name="矩形 34"/>
            <p:cNvSpPr/>
            <p:nvPr/>
          </p:nvSpPr>
          <p:spPr>
            <a:xfrm>
              <a:off x="14652" y="8567"/>
              <a:ext cx="1578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保存</a:t>
              </a:r>
              <a:endParaRPr lang="zh-CN" altLang="en-US" sz="120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8873" y="8304"/>
              <a:ext cx="417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200"/>
                <a:t>点击密码修改，需要输入原有密码，然后输入至少六位数新密码。以及忘记密码，忘记密码验证问题</a:t>
              </a:r>
              <a:endParaRPr lang="zh-CN" sz="120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3845" y="7459"/>
              <a:ext cx="30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200"/>
                <a:t>点击删除后要有对话框弹出，再次确认，避免误删</a:t>
              </a:r>
              <a:endParaRPr lang="zh-CN" sz="1200"/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6311900" y="2153920"/>
            <a:ext cx="37877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点击返回后，要有对话框提醒保存更改信息。</a:t>
            </a:r>
            <a:endParaRPr lang="zh-CN" sz="1200"/>
          </a:p>
        </p:txBody>
      </p:sp>
      <p:cxnSp>
        <p:nvCxnSpPr>
          <p:cNvPr id="45" name="直接箭头连接符 44"/>
          <p:cNvCxnSpPr/>
          <p:nvPr/>
        </p:nvCxnSpPr>
        <p:spPr>
          <a:xfrm flipH="1">
            <a:off x="5414645" y="2361565"/>
            <a:ext cx="937895" cy="446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435215" y="4304030"/>
            <a:ext cx="603885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/>
              <a:t>监狱</a:t>
            </a:r>
            <a:r>
              <a:rPr lang="en-US" altLang="zh-CN" sz="900"/>
              <a:t>1+2</a:t>
            </a:r>
            <a:endParaRPr lang="en-US" altLang="zh-CN" sz="900"/>
          </a:p>
        </p:txBody>
      </p:sp>
      <p:sp>
        <p:nvSpPr>
          <p:cNvPr id="13" name="矩形 12"/>
          <p:cNvSpPr/>
          <p:nvPr/>
        </p:nvSpPr>
        <p:spPr>
          <a:xfrm>
            <a:off x="7435850" y="4022725"/>
            <a:ext cx="603885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/>
              <a:t>监狱</a:t>
            </a:r>
            <a:r>
              <a:rPr lang="en-US" altLang="zh-CN" sz="900"/>
              <a:t>3+4</a:t>
            </a:r>
            <a:endParaRPr lang="en-US" altLang="zh-CN" sz="900"/>
          </a:p>
        </p:txBody>
      </p:sp>
      <p:grpSp>
        <p:nvGrpSpPr>
          <p:cNvPr id="31" name="组合 30"/>
          <p:cNvGrpSpPr/>
          <p:nvPr/>
        </p:nvGrpSpPr>
        <p:grpSpPr>
          <a:xfrm>
            <a:off x="431165" y="1644015"/>
            <a:ext cx="3199130" cy="5213350"/>
            <a:chOff x="679" y="2589"/>
            <a:chExt cx="5038" cy="821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" y="2589"/>
              <a:ext cx="5038" cy="8211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1882" y="5555"/>
              <a:ext cx="2378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200"/>
                <a:t>左侧有个管理员列表树型图，管理员可以通过树形图快速定位到不同模块</a:t>
              </a:r>
              <a:endParaRPr lang="zh-CN" sz="120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212455" y="2606675"/>
            <a:ext cx="3582035" cy="1668145"/>
            <a:chOff x="12933" y="4105"/>
            <a:chExt cx="5641" cy="2627"/>
          </a:xfrm>
        </p:grpSpPr>
        <p:sp>
          <p:nvSpPr>
            <p:cNvPr id="48" name="矩形 47"/>
            <p:cNvSpPr/>
            <p:nvPr/>
          </p:nvSpPr>
          <p:spPr>
            <a:xfrm>
              <a:off x="12933" y="6361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全部权限</a:t>
              </a:r>
              <a:endParaRPr lang="zh-CN" altLang="en-US" sz="90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4897" y="4105"/>
              <a:ext cx="367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200"/>
                <a:t>功能授权包含了设备监控，设备管理，设备告警，数据统计，日志查看</a:t>
              </a:r>
              <a:endParaRPr lang="zh-CN" sz="1200"/>
            </a:p>
          </p:txBody>
        </p:sp>
        <p:cxnSp>
          <p:nvCxnSpPr>
            <p:cNvPr id="51" name="直接箭头连接符 50"/>
            <p:cNvCxnSpPr/>
            <p:nvPr/>
          </p:nvCxnSpPr>
          <p:spPr>
            <a:xfrm flipH="1">
              <a:off x="13690" y="5003"/>
              <a:ext cx="1504" cy="14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7" name="矩形 46"/>
          <p:cNvSpPr/>
          <p:nvPr/>
        </p:nvSpPr>
        <p:spPr>
          <a:xfrm>
            <a:off x="8212455" y="4304030"/>
            <a:ext cx="694690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全部权限</a:t>
            </a:r>
            <a:endParaRPr lang="zh-CN" altLang="en-US" sz="900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848735" y="1814830"/>
            <a:ext cx="4988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2. </a:t>
            </a:r>
            <a:r>
              <a:rPr lang="zh-CN" sz="1400"/>
              <a:t>点击监狱管理员，弹出对话框</a:t>
            </a:r>
            <a:endParaRPr lang="zh-CN" sz="1400"/>
          </a:p>
        </p:txBody>
      </p:sp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848735" y="2461895"/>
            <a:ext cx="8051800" cy="3895725"/>
          </a:xfrm>
          <a:prstGeom prst="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089400" y="2995930"/>
            <a:ext cx="1002030" cy="433070"/>
          </a:xfrm>
          <a:prstGeom prst="rect">
            <a:avLst/>
          </a:prstGeom>
          <a:solidFill>
            <a:schemeClr val="accent6">
              <a:lumMod val="20000"/>
              <a:lumOff val="80000"/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账号列表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274185" y="3429000"/>
            <a:ext cx="7305675" cy="433070"/>
          </a:xfrm>
          <a:prstGeom prst="rect">
            <a:avLst/>
          </a:prstGeom>
          <a:solidFill>
            <a:schemeClr val="accent5">
              <a:lumMod val="20000"/>
              <a:lumOff val="80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>
                <a:solidFill>
                  <a:schemeClr val="tx1"/>
                </a:solidFill>
              </a:rPr>
              <a:t>账户名</a:t>
            </a:r>
            <a:r>
              <a:rPr lang="en-US" altLang="zh-CN" sz="1200">
                <a:solidFill>
                  <a:schemeClr val="tx1"/>
                </a:solidFill>
              </a:rPr>
              <a:t>                      </a:t>
            </a:r>
            <a:r>
              <a:rPr lang="zh-CN" altLang="en-US" sz="1200">
                <a:solidFill>
                  <a:schemeClr val="tx1"/>
                </a:solidFill>
              </a:rPr>
              <a:t>昵称</a:t>
            </a:r>
            <a:r>
              <a:rPr lang="en-US" altLang="zh-CN" sz="1200">
                <a:solidFill>
                  <a:schemeClr val="tx1"/>
                </a:solidFill>
              </a:rPr>
              <a:t>                      </a:t>
            </a:r>
            <a:r>
              <a:rPr lang="zh-CN" altLang="en-US" sz="1200">
                <a:solidFill>
                  <a:schemeClr val="tx1"/>
                </a:solidFill>
              </a:rPr>
              <a:t>管理区域</a:t>
            </a:r>
            <a:r>
              <a:rPr lang="en-US" altLang="zh-CN" sz="1200">
                <a:solidFill>
                  <a:schemeClr val="tx1"/>
                </a:solidFill>
              </a:rPr>
              <a:t>                  </a:t>
            </a:r>
            <a:r>
              <a:rPr lang="zh-CN" altLang="en-US" sz="1200">
                <a:solidFill>
                  <a:schemeClr val="tx1"/>
                </a:solidFill>
              </a:rPr>
              <a:t>功能权限</a:t>
            </a:r>
            <a:r>
              <a:rPr lang="en-US" altLang="zh-CN" sz="1200">
                <a:solidFill>
                  <a:schemeClr val="tx1"/>
                </a:solidFill>
              </a:rPr>
              <a:t>                </a:t>
            </a:r>
            <a:r>
              <a:rPr lang="zh-CN" altLang="en-US" sz="1200">
                <a:solidFill>
                  <a:schemeClr val="tx1"/>
                </a:solidFill>
              </a:rPr>
              <a:t>密码修改</a:t>
            </a:r>
            <a:r>
              <a:rPr lang="en-US" altLang="zh-CN" sz="1200">
                <a:solidFill>
                  <a:schemeClr val="tx1"/>
                </a:solidFill>
              </a:rPr>
              <a:t>              </a:t>
            </a:r>
            <a:r>
              <a:rPr lang="zh-CN" altLang="en-US" sz="1200">
                <a:solidFill>
                  <a:schemeClr val="tx1"/>
                </a:solidFill>
              </a:rPr>
              <a:t>账号删除</a:t>
            </a:r>
            <a:r>
              <a:rPr lang="en-US" altLang="zh-CN" sz="1200">
                <a:solidFill>
                  <a:schemeClr val="tx1"/>
                </a:solidFill>
              </a:rPr>
              <a:t>                 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34815" y="4040505"/>
            <a:ext cx="35344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301                            mohammed             </a:t>
            </a:r>
            <a:endParaRPr lang="en-US" altLang="zh-CN" sz="1200"/>
          </a:p>
          <a:p>
            <a:r>
              <a:rPr lang="en-US" altLang="zh-CN" sz="1200"/>
              <a:t>302                            Ahmed                                     </a:t>
            </a:r>
            <a:endParaRPr lang="en-US" altLang="zh-CN" sz="1200"/>
          </a:p>
        </p:txBody>
      </p:sp>
      <p:sp>
        <p:nvSpPr>
          <p:cNvPr id="32" name="矩形 31"/>
          <p:cNvSpPr/>
          <p:nvPr/>
        </p:nvSpPr>
        <p:spPr>
          <a:xfrm>
            <a:off x="4253230" y="4500880"/>
            <a:ext cx="694690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新建</a:t>
            </a:r>
            <a:endParaRPr lang="zh-CN" altLang="en-US" sz="900"/>
          </a:p>
        </p:txBody>
      </p:sp>
      <p:sp>
        <p:nvSpPr>
          <p:cNvPr id="36" name="矩形 35"/>
          <p:cNvSpPr/>
          <p:nvPr/>
        </p:nvSpPr>
        <p:spPr>
          <a:xfrm>
            <a:off x="4253230" y="2613025"/>
            <a:ext cx="1002030" cy="43307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返回</a:t>
            </a:r>
            <a:endParaRPr lang="zh-CN" altLang="en-US" sz="1200"/>
          </a:p>
        </p:txBody>
      </p:sp>
      <p:sp>
        <p:nvSpPr>
          <p:cNvPr id="37" name="矩形 36"/>
          <p:cNvSpPr/>
          <p:nvPr/>
        </p:nvSpPr>
        <p:spPr>
          <a:xfrm>
            <a:off x="6774180" y="4040505"/>
            <a:ext cx="603885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利雅得</a:t>
            </a:r>
            <a:endParaRPr lang="zh-CN" altLang="en-US" sz="900"/>
          </a:p>
        </p:txBody>
      </p:sp>
      <p:sp>
        <p:nvSpPr>
          <p:cNvPr id="38" name="矩形 37"/>
          <p:cNvSpPr/>
          <p:nvPr/>
        </p:nvSpPr>
        <p:spPr>
          <a:xfrm>
            <a:off x="6774180" y="4304030"/>
            <a:ext cx="603885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省份</a:t>
            </a:r>
            <a:r>
              <a:rPr lang="en-US" altLang="zh-CN" sz="900"/>
              <a:t>1</a:t>
            </a:r>
            <a:endParaRPr lang="zh-CN" sz="900"/>
          </a:p>
        </p:txBody>
      </p:sp>
      <p:sp>
        <p:nvSpPr>
          <p:cNvPr id="39" name="文本框 38"/>
          <p:cNvSpPr txBox="1"/>
          <p:nvPr/>
        </p:nvSpPr>
        <p:spPr>
          <a:xfrm>
            <a:off x="5930900" y="2623185"/>
            <a:ext cx="32499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点击后弹出上节录入</a:t>
            </a:r>
            <a:r>
              <a:rPr lang="zh-CN" altLang="en-US" sz="1200"/>
              <a:t>省份列表，</a:t>
            </a:r>
            <a:r>
              <a:rPr lang="zh-CN" sz="1200"/>
              <a:t>可多选，选中项背景色变深，或者</a:t>
            </a:r>
            <a:r>
              <a:rPr lang="zh-CN" altLang="en-US" sz="1200"/>
              <a:t>项前有可选框，打勾方式选择，同时新增监狱可选项，也是上节监狱录入的数据，</a:t>
            </a:r>
            <a:endParaRPr lang="zh-CN" altLang="en-US" sz="1200"/>
          </a:p>
        </p:txBody>
      </p:sp>
      <p:cxnSp>
        <p:nvCxnSpPr>
          <p:cNvPr id="40" name="直接箭头连接符 39"/>
          <p:cNvCxnSpPr/>
          <p:nvPr/>
        </p:nvCxnSpPr>
        <p:spPr>
          <a:xfrm flipH="1">
            <a:off x="7524750" y="3299460"/>
            <a:ext cx="310515" cy="6883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6996430" y="4037330"/>
            <a:ext cx="5091430" cy="1880870"/>
            <a:chOff x="8873" y="6358"/>
            <a:chExt cx="8018" cy="2962"/>
          </a:xfrm>
        </p:grpSpPr>
        <p:sp>
          <p:nvSpPr>
            <p:cNvPr id="29" name="矩形 28"/>
            <p:cNvSpPr/>
            <p:nvPr/>
          </p:nvSpPr>
          <p:spPr>
            <a:xfrm>
              <a:off x="13103" y="6363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密码修改</a:t>
              </a:r>
              <a:endParaRPr lang="zh-CN" altLang="en-US" sz="900"/>
            </a:p>
          </p:txBody>
        </p:sp>
        <p:sp>
          <p:nvSpPr>
            <p:cNvPr id="30" name="矩形 29"/>
            <p:cNvSpPr/>
            <p:nvPr/>
          </p:nvSpPr>
          <p:spPr>
            <a:xfrm>
              <a:off x="13103" y="6685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密码修改</a:t>
              </a:r>
              <a:endParaRPr lang="zh-CN" altLang="en-US" sz="90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4994" y="6358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删除</a:t>
              </a:r>
              <a:endParaRPr lang="zh-CN" altLang="en-US" sz="900"/>
            </a:p>
          </p:txBody>
        </p:sp>
        <p:sp>
          <p:nvSpPr>
            <p:cNvPr id="34" name="矩形 33"/>
            <p:cNvSpPr/>
            <p:nvPr/>
          </p:nvSpPr>
          <p:spPr>
            <a:xfrm>
              <a:off x="14996" y="6734"/>
              <a:ext cx="1094" cy="371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900"/>
                <a:t>删除</a:t>
              </a:r>
              <a:endParaRPr lang="zh-CN" altLang="en-US" sz="900"/>
            </a:p>
          </p:txBody>
        </p:sp>
        <p:sp>
          <p:nvSpPr>
            <p:cNvPr id="35" name="矩形 34"/>
            <p:cNvSpPr/>
            <p:nvPr/>
          </p:nvSpPr>
          <p:spPr>
            <a:xfrm>
              <a:off x="14652" y="8567"/>
              <a:ext cx="1578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保存</a:t>
              </a:r>
              <a:endParaRPr lang="zh-CN" altLang="en-US" sz="120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8873" y="8304"/>
              <a:ext cx="417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200"/>
                <a:t>点击密码修改，需要输入原有密码，然后输入至少六位数新密码。以及忘记密码，忘记密码验证问题</a:t>
              </a:r>
              <a:endParaRPr lang="zh-CN" sz="1200"/>
            </a:p>
          </p:txBody>
        </p:sp>
        <p:cxnSp>
          <p:nvCxnSpPr>
            <p:cNvPr id="42" name="直接箭头连接符 41"/>
            <p:cNvCxnSpPr/>
            <p:nvPr/>
          </p:nvCxnSpPr>
          <p:spPr>
            <a:xfrm flipV="1">
              <a:off x="11839" y="7149"/>
              <a:ext cx="1226" cy="110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13845" y="7459"/>
              <a:ext cx="30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200"/>
                <a:t>点击删除后要有对话框弹出，再次确认，避免误删</a:t>
              </a:r>
              <a:endParaRPr lang="zh-CN" sz="1200"/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6311900" y="2153920"/>
            <a:ext cx="37877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点击返回后，要有对话框提醒保存更改信息。</a:t>
            </a:r>
            <a:endParaRPr lang="zh-CN" sz="1200"/>
          </a:p>
        </p:txBody>
      </p:sp>
      <p:cxnSp>
        <p:nvCxnSpPr>
          <p:cNvPr id="45" name="直接箭头连接符 44"/>
          <p:cNvCxnSpPr/>
          <p:nvPr/>
        </p:nvCxnSpPr>
        <p:spPr>
          <a:xfrm flipH="1">
            <a:off x="5414645" y="2361565"/>
            <a:ext cx="937895" cy="446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435215" y="4304030"/>
            <a:ext cx="603885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/>
              <a:t>监狱</a:t>
            </a:r>
            <a:r>
              <a:rPr lang="en-US" altLang="zh-CN" sz="900"/>
              <a:t>2</a:t>
            </a:r>
            <a:endParaRPr lang="en-US" altLang="zh-CN" sz="900"/>
          </a:p>
        </p:txBody>
      </p:sp>
      <p:sp>
        <p:nvSpPr>
          <p:cNvPr id="13" name="矩形 12"/>
          <p:cNvSpPr/>
          <p:nvPr/>
        </p:nvSpPr>
        <p:spPr>
          <a:xfrm>
            <a:off x="7435850" y="4022725"/>
            <a:ext cx="603885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/>
              <a:t>监狱</a:t>
            </a:r>
            <a:r>
              <a:rPr lang="en-US" altLang="zh-CN" sz="900"/>
              <a:t>1</a:t>
            </a:r>
            <a:endParaRPr lang="en-US" altLang="zh-CN" sz="9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65" y="1644015"/>
            <a:ext cx="3199130" cy="521398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195070" y="3527425"/>
            <a:ext cx="15100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左侧有个管理员列表树型图，管理员可以通过树形图快速定位到不同模块</a:t>
            </a:r>
            <a:endParaRPr lang="zh-CN" sz="1200"/>
          </a:p>
        </p:txBody>
      </p:sp>
      <p:cxnSp>
        <p:nvCxnSpPr>
          <p:cNvPr id="51" name="直接箭头连接符 50"/>
          <p:cNvCxnSpPr/>
          <p:nvPr/>
        </p:nvCxnSpPr>
        <p:spPr>
          <a:xfrm flipH="1">
            <a:off x="8693150" y="3176905"/>
            <a:ext cx="955040" cy="901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8212455" y="4039235"/>
            <a:ext cx="890905" cy="235585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设备监控</a:t>
            </a:r>
            <a:endParaRPr lang="zh-CN" altLang="en-US" sz="900"/>
          </a:p>
        </p:txBody>
      </p:sp>
      <p:sp>
        <p:nvSpPr>
          <p:cNvPr id="50" name="文本框 49"/>
          <p:cNvSpPr txBox="1"/>
          <p:nvPr/>
        </p:nvSpPr>
        <p:spPr>
          <a:xfrm>
            <a:off x="9459595" y="2606675"/>
            <a:ext cx="23348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功能授权包含了设备监控，设备管理，设备告警，数据统计，日志查看，可多选</a:t>
            </a:r>
            <a:endParaRPr lang="zh-CN" sz="1200"/>
          </a:p>
        </p:txBody>
      </p:sp>
      <p:sp>
        <p:nvSpPr>
          <p:cNvPr id="46" name="矩形 45"/>
          <p:cNvSpPr/>
          <p:nvPr/>
        </p:nvSpPr>
        <p:spPr>
          <a:xfrm>
            <a:off x="8212455" y="4304030"/>
            <a:ext cx="890905" cy="38608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设备监控</a:t>
            </a:r>
            <a:r>
              <a:rPr lang="en-US" altLang="zh-CN" sz="900"/>
              <a:t>+</a:t>
            </a:r>
            <a:r>
              <a:rPr lang="zh-CN" altLang="en-US" sz="900"/>
              <a:t>设备告警</a:t>
            </a:r>
            <a:endParaRPr lang="zh-CN" altLang="en-US" sz="900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第三部分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4800"/>
              <a:t>设备管理</a:t>
            </a:r>
            <a:endParaRPr lang="zh-CN" altLang="en-US" sz="4800"/>
          </a:p>
        </p:txBody>
      </p:sp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580880" y="168910"/>
            <a:ext cx="2134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1165" y="1439545"/>
            <a:ext cx="2531745" cy="5396230"/>
          </a:xfrm>
          <a:prstGeom prst="rect">
            <a:avLst/>
          </a:prstGeom>
          <a:solidFill>
            <a:schemeClr val="accent4">
              <a:lumMod val="75000"/>
              <a:alpha val="7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/>
          </a:p>
        </p:txBody>
      </p:sp>
      <p:sp>
        <p:nvSpPr>
          <p:cNvPr id="37" name="矩形 36"/>
          <p:cNvSpPr/>
          <p:nvPr/>
        </p:nvSpPr>
        <p:spPr>
          <a:xfrm>
            <a:off x="805180" y="170370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全国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>
            <a:stCxn id="37" idx="1"/>
          </p:cNvCxnSpPr>
          <p:nvPr/>
        </p:nvCxnSpPr>
        <p:spPr>
          <a:xfrm flipH="1">
            <a:off x="799465" y="1821815"/>
            <a:ext cx="5715" cy="12960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01370" y="213233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利雅得省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05180" y="249491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省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05180" y="285750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省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15" name="动作按钮: 前进或下一项 14"/>
          <p:cNvSpPr/>
          <p:nvPr/>
        </p:nvSpPr>
        <p:spPr>
          <a:xfrm>
            <a:off x="690880" y="217805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动作按钮: 前进或下一项 15"/>
          <p:cNvSpPr/>
          <p:nvPr/>
        </p:nvSpPr>
        <p:spPr>
          <a:xfrm>
            <a:off x="703580" y="2517775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动作按钮: 前进或下一项 21"/>
          <p:cNvSpPr/>
          <p:nvPr/>
        </p:nvSpPr>
        <p:spPr>
          <a:xfrm>
            <a:off x="703580" y="290703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926465" y="3168015"/>
            <a:ext cx="5715" cy="12960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932180" y="331152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26465" y="376428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32180" y="422783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3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9" name="动作按钮: 前进或下一项 28"/>
          <p:cNvSpPr/>
          <p:nvPr/>
        </p:nvSpPr>
        <p:spPr>
          <a:xfrm>
            <a:off x="926465" y="3358515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动作按钮: 前进或下一项 29"/>
          <p:cNvSpPr/>
          <p:nvPr/>
        </p:nvSpPr>
        <p:spPr>
          <a:xfrm>
            <a:off x="872490" y="381762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动作按钮: 前进或下一项 30"/>
          <p:cNvSpPr/>
          <p:nvPr/>
        </p:nvSpPr>
        <p:spPr>
          <a:xfrm>
            <a:off x="872490" y="426593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1128395" y="4317365"/>
            <a:ext cx="3175" cy="6356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131570" y="473392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建筑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350010" y="514413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楼层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1341755" y="4953635"/>
            <a:ext cx="2540" cy="45021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1341755" y="550672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楼层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3128645" y="2132330"/>
            <a:ext cx="7354570" cy="4404360"/>
            <a:chOff x="6696" y="2659"/>
            <a:chExt cx="11582" cy="6936"/>
          </a:xfrm>
        </p:grpSpPr>
        <p:sp>
          <p:nvSpPr>
            <p:cNvPr id="38" name="矩形 37"/>
            <p:cNvSpPr/>
            <p:nvPr/>
          </p:nvSpPr>
          <p:spPr>
            <a:xfrm>
              <a:off x="6696" y="2659"/>
              <a:ext cx="3704" cy="3186"/>
            </a:xfrm>
            <a:prstGeom prst="rect">
              <a:avLst/>
            </a:prstGeom>
            <a:solidFill>
              <a:schemeClr val="accent6">
                <a:alpha val="18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省</a:t>
              </a:r>
              <a:r>
                <a:rPr lang="en-US" altLang="zh-CN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10600" y="2659"/>
              <a:ext cx="3704" cy="3186"/>
            </a:xfrm>
            <a:prstGeom prst="rect">
              <a:avLst/>
            </a:prstGeom>
            <a:solidFill>
              <a:schemeClr val="accent3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省</a:t>
              </a:r>
              <a:r>
                <a:rPr lang="en-US" altLang="zh-CN">
                  <a:solidFill>
                    <a:schemeClr val="tx1"/>
                  </a:solidFill>
                </a:rPr>
                <a:t>2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14574" y="2659"/>
              <a:ext cx="3704" cy="3186"/>
            </a:xfrm>
            <a:prstGeom prst="rect">
              <a:avLst/>
            </a:prstGeom>
            <a:solidFill>
              <a:schemeClr val="accent1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省</a:t>
              </a:r>
              <a:r>
                <a:rPr lang="en-US" altLang="zh-CN">
                  <a:solidFill>
                    <a:schemeClr val="tx1"/>
                  </a:solidFill>
                </a:rPr>
                <a:t>3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6696" y="6409"/>
              <a:ext cx="3704" cy="318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省</a:t>
              </a:r>
              <a:r>
                <a:rPr lang="en-US" altLang="zh-CN"/>
                <a:t>4</a:t>
              </a:r>
              <a:endParaRPr lang="en-US" altLang="zh-CN"/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6061075" y="4759325"/>
            <a:ext cx="4422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/>
              <a:t>1. </a:t>
            </a:r>
            <a:r>
              <a:rPr lang="zh-CN" sz="1400"/>
              <a:t>点击左侧树</a:t>
            </a:r>
            <a:r>
              <a:rPr lang="en-US" altLang="zh-CN" sz="1400"/>
              <a:t> “</a:t>
            </a:r>
            <a:r>
              <a:rPr lang="zh-CN" altLang="en-US" sz="1400"/>
              <a:t>全国</a:t>
            </a:r>
            <a:r>
              <a:rPr lang="en-US" altLang="zh-CN" sz="1400"/>
              <a:t>” </a:t>
            </a:r>
            <a:r>
              <a:rPr lang="zh-CN" altLang="en-US" sz="1400"/>
              <a:t>按钮，弹出有录入的省份弹窗</a:t>
            </a:r>
            <a:endParaRPr lang="zh-CN" altLang="en-US" sz="1400"/>
          </a:p>
        </p:txBody>
      </p:sp>
      <p:sp>
        <p:nvSpPr>
          <p:cNvPr id="44" name="文本框 43"/>
          <p:cNvSpPr txBox="1"/>
          <p:nvPr/>
        </p:nvSpPr>
        <p:spPr>
          <a:xfrm>
            <a:off x="6061075" y="5264150"/>
            <a:ext cx="4422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/>
              <a:t>2. </a:t>
            </a:r>
            <a:r>
              <a:rPr lang="zh-CN" sz="1400"/>
              <a:t>点击</a:t>
            </a:r>
            <a:r>
              <a:rPr lang="zh-CN" altLang="en-US" sz="1400"/>
              <a:t>所有设备</a:t>
            </a:r>
            <a:r>
              <a:rPr lang="en-US" sz="1400"/>
              <a:t>  </a:t>
            </a:r>
            <a:r>
              <a:rPr lang="zh-CN" altLang="en-US" sz="1400"/>
              <a:t>弹窗出为整个国家屏蔽仪列表，但是列表还是要根据省份划分</a:t>
            </a:r>
            <a:endParaRPr lang="zh-CN" altLang="en-US" sz="1400"/>
          </a:p>
        </p:txBody>
      </p:sp>
      <p:grpSp>
        <p:nvGrpSpPr>
          <p:cNvPr id="51" name="组合 50"/>
          <p:cNvGrpSpPr/>
          <p:nvPr/>
        </p:nvGrpSpPr>
        <p:grpSpPr>
          <a:xfrm>
            <a:off x="3157220" y="1569720"/>
            <a:ext cx="5725160" cy="252095"/>
            <a:chOff x="5007" y="2883"/>
            <a:chExt cx="9016" cy="397"/>
          </a:xfrm>
        </p:grpSpPr>
        <p:sp>
          <p:nvSpPr>
            <p:cNvPr id="45" name="矩形 44"/>
            <p:cNvSpPr/>
            <p:nvPr/>
          </p:nvSpPr>
          <p:spPr>
            <a:xfrm>
              <a:off x="6285" y="2883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添加设备</a:t>
              </a:r>
              <a:endParaRPr lang="zh-CN" sz="1000"/>
            </a:p>
          </p:txBody>
        </p:sp>
        <p:sp>
          <p:nvSpPr>
            <p:cNvPr id="46" name="矩形 45"/>
            <p:cNvSpPr/>
            <p:nvPr/>
          </p:nvSpPr>
          <p:spPr>
            <a:xfrm>
              <a:off x="7563" y="2884"/>
              <a:ext cx="1303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批量添加</a:t>
              </a:r>
              <a:endParaRPr lang="zh-CN" sz="1000"/>
            </a:p>
          </p:txBody>
        </p:sp>
        <p:sp>
          <p:nvSpPr>
            <p:cNvPr id="47" name="矩形 46"/>
            <p:cNvSpPr/>
            <p:nvPr/>
          </p:nvSpPr>
          <p:spPr>
            <a:xfrm>
              <a:off x="8866" y="2883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修改</a:t>
              </a:r>
              <a:endParaRPr lang="zh-CN" sz="1000"/>
            </a:p>
          </p:txBody>
        </p:sp>
        <p:sp>
          <p:nvSpPr>
            <p:cNvPr id="48" name="矩形 47"/>
            <p:cNvSpPr/>
            <p:nvPr/>
          </p:nvSpPr>
          <p:spPr>
            <a:xfrm>
              <a:off x="10146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删除</a:t>
              </a:r>
              <a:endParaRPr lang="zh-CN" sz="1000"/>
            </a:p>
          </p:txBody>
        </p:sp>
        <p:sp>
          <p:nvSpPr>
            <p:cNvPr id="49" name="矩形 48"/>
            <p:cNvSpPr/>
            <p:nvPr/>
          </p:nvSpPr>
          <p:spPr>
            <a:xfrm>
              <a:off x="11447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管理</a:t>
              </a:r>
              <a:endParaRPr lang="zh-CN" sz="1000"/>
            </a:p>
          </p:txBody>
        </p:sp>
        <p:sp>
          <p:nvSpPr>
            <p:cNvPr id="50" name="矩形 49"/>
            <p:cNvSpPr/>
            <p:nvPr/>
          </p:nvSpPr>
          <p:spPr>
            <a:xfrm>
              <a:off x="5007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所有设备</a:t>
              </a:r>
              <a:endParaRPr lang="zh-CN" sz="1000"/>
            </a:p>
          </p:txBody>
        </p:sp>
        <p:sp>
          <p:nvSpPr>
            <p:cNvPr id="52" name="矩形 51"/>
            <p:cNvSpPr/>
            <p:nvPr/>
          </p:nvSpPr>
          <p:spPr>
            <a:xfrm>
              <a:off x="12745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查找</a:t>
              </a:r>
              <a:endParaRPr lang="zh-CN" sz="1000"/>
            </a:p>
          </p:txBody>
        </p:sp>
      </p:grp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1165" y="1439545"/>
            <a:ext cx="2531745" cy="5396230"/>
          </a:xfrm>
          <a:prstGeom prst="rect">
            <a:avLst/>
          </a:prstGeom>
          <a:solidFill>
            <a:schemeClr val="accent4">
              <a:lumMod val="75000"/>
              <a:alpha val="7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/>
          </a:p>
        </p:txBody>
      </p:sp>
      <p:sp>
        <p:nvSpPr>
          <p:cNvPr id="37" name="矩形 36"/>
          <p:cNvSpPr/>
          <p:nvPr/>
        </p:nvSpPr>
        <p:spPr>
          <a:xfrm>
            <a:off x="805180" y="170370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全国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>
            <a:stCxn id="37" idx="1"/>
          </p:cNvCxnSpPr>
          <p:nvPr/>
        </p:nvCxnSpPr>
        <p:spPr>
          <a:xfrm flipH="1">
            <a:off x="799465" y="1821815"/>
            <a:ext cx="5715" cy="12960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01370" y="213233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利雅得省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05180" y="249491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省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05180" y="285750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省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15" name="动作按钮: 前进或下一项 14"/>
          <p:cNvSpPr/>
          <p:nvPr/>
        </p:nvSpPr>
        <p:spPr>
          <a:xfrm>
            <a:off x="690880" y="217805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动作按钮: 前进或下一项 15"/>
          <p:cNvSpPr/>
          <p:nvPr/>
        </p:nvSpPr>
        <p:spPr>
          <a:xfrm>
            <a:off x="703580" y="2517775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动作按钮: 前进或下一项 21"/>
          <p:cNvSpPr/>
          <p:nvPr/>
        </p:nvSpPr>
        <p:spPr>
          <a:xfrm>
            <a:off x="703580" y="290703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926465" y="3168015"/>
            <a:ext cx="5715" cy="12960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932180" y="331152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26465" y="376428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32180" y="422783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3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9" name="动作按钮: 前进或下一项 28"/>
          <p:cNvSpPr/>
          <p:nvPr/>
        </p:nvSpPr>
        <p:spPr>
          <a:xfrm>
            <a:off x="926465" y="3358515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动作按钮: 前进或下一项 29"/>
          <p:cNvSpPr/>
          <p:nvPr/>
        </p:nvSpPr>
        <p:spPr>
          <a:xfrm>
            <a:off x="872490" y="381762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动作按钮: 前进或下一项 30"/>
          <p:cNvSpPr/>
          <p:nvPr/>
        </p:nvSpPr>
        <p:spPr>
          <a:xfrm>
            <a:off x="872490" y="426593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1128395" y="4317365"/>
            <a:ext cx="3175" cy="6356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131570" y="473392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建筑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350010" y="514413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楼层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1341755" y="4953635"/>
            <a:ext cx="2540" cy="45021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1341755" y="550672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楼层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629910" y="1497330"/>
            <a:ext cx="49142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000"/>
              <a:t>2. </a:t>
            </a:r>
            <a:r>
              <a:rPr lang="zh-CN" sz="1000"/>
              <a:t>点击</a:t>
            </a:r>
            <a:r>
              <a:rPr lang="zh-CN" altLang="en-US" sz="1000"/>
              <a:t>所有设备</a:t>
            </a:r>
            <a:r>
              <a:rPr lang="en-US" sz="1000"/>
              <a:t>  </a:t>
            </a:r>
            <a:r>
              <a:rPr lang="zh-CN" altLang="en-US" sz="1000"/>
              <a:t>弹窗出为整个国家屏蔽仪列表，但是列表还是要根据省份划分</a:t>
            </a:r>
            <a:endParaRPr lang="zh-CN" altLang="en-US" sz="1000"/>
          </a:p>
        </p:txBody>
      </p:sp>
      <p:grpSp>
        <p:nvGrpSpPr>
          <p:cNvPr id="51" name="组合 50"/>
          <p:cNvGrpSpPr/>
          <p:nvPr/>
        </p:nvGrpSpPr>
        <p:grpSpPr>
          <a:xfrm>
            <a:off x="3179445" y="1830705"/>
            <a:ext cx="5725160" cy="252095"/>
            <a:chOff x="5007" y="2883"/>
            <a:chExt cx="9016" cy="397"/>
          </a:xfrm>
        </p:grpSpPr>
        <p:sp>
          <p:nvSpPr>
            <p:cNvPr id="9" name="矩形 8"/>
            <p:cNvSpPr/>
            <p:nvPr/>
          </p:nvSpPr>
          <p:spPr>
            <a:xfrm>
              <a:off x="6285" y="2883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添加设备</a:t>
              </a:r>
              <a:endParaRPr lang="zh-CN" sz="1000"/>
            </a:p>
          </p:txBody>
        </p:sp>
        <p:sp>
          <p:nvSpPr>
            <p:cNvPr id="45" name="矩形 44"/>
            <p:cNvSpPr/>
            <p:nvPr/>
          </p:nvSpPr>
          <p:spPr>
            <a:xfrm>
              <a:off x="7563" y="2884"/>
              <a:ext cx="1303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批量添加</a:t>
              </a:r>
              <a:endParaRPr lang="zh-CN" sz="1000"/>
            </a:p>
          </p:txBody>
        </p:sp>
        <p:sp>
          <p:nvSpPr>
            <p:cNvPr id="46" name="矩形 45"/>
            <p:cNvSpPr/>
            <p:nvPr/>
          </p:nvSpPr>
          <p:spPr>
            <a:xfrm>
              <a:off x="8866" y="2883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修改</a:t>
              </a:r>
              <a:endParaRPr lang="zh-CN" sz="1000"/>
            </a:p>
          </p:txBody>
        </p:sp>
        <p:sp>
          <p:nvSpPr>
            <p:cNvPr id="47" name="矩形 46"/>
            <p:cNvSpPr/>
            <p:nvPr/>
          </p:nvSpPr>
          <p:spPr>
            <a:xfrm>
              <a:off x="10146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删除</a:t>
              </a:r>
              <a:endParaRPr lang="zh-CN" sz="1000"/>
            </a:p>
          </p:txBody>
        </p:sp>
        <p:sp>
          <p:nvSpPr>
            <p:cNvPr id="48" name="矩形 47"/>
            <p:cNvSpPr/>
            <p:nvPr/>
          </p:nvSpPr>
          <p:spPr>
            <a:xfrm>
              <a:off x="11447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管理</a:t>
              </a:r>
              <a:endParaRPr lang="zh-CN" sz="1000"/>
            </a:p>
          </p:txBody>
        </p:sp>
        <p:sp>
          <p:nvSpPr>
            <p:cNvPr id="49" name="矩形 48"/>
            <p:cNvSpPr/>
            <p:nvPr/>
          </p:nvSpPr>
          <p:spPr>
            <a:xfrm>
              <a:off x="5007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所有设备</a:t>
              </a:r>
              <a:endParaRPr lang="zh-CN" sz="1000"/>
            </a:p>
          </p:txBody>
        </p:sp>
        <p:sp>
          <p:nvSpPr>
            <p:cNvPr id="50" name="矩形 49"/>
            <p:cNvSpPr/>
            <p:nvPr/>
          </p:nvSpPr>
          <p:spPr>
            <a:xfrm>
              <a:off x="12745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查找</a:t>
              </a:r>
              <a:endParaRPr lang="zh-CN" sz="1000"/>
            </a:p>
          </p:txBody>
        </p:sp>
      </p:grpSp>
      <p:sp>
        <p:nvSpPr>
          <p:cNvPr id="52" name="矩形 51"/>
          <p:cNvSpPr/>
          <p:nvPr/>
        </p:nvSpPr>
        <p:spPr>
          <a:xfrm>
            <a:off x="3179445" y="2132330"/>
            <a:ext cx="810895" cy="4441190"/>
          </a:xfrm>
          <a:prstGeom prst="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省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990975" y="2132330"/>
            <a:ext cx="811530" cy="444055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监狱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799330" y="2132330"/>
            <a:ext cx="811530" cy="2273300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建筑</a:t>
            </a:r>
            <a:r>
              <a:rPr lang="en-US" altLang="zh-CN" sz="1600">
                <a:solidFill>
                  <a:schemeClr val="tx1"/>
                </a:solidFill>
              </a:rPr>
              <a:t>1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799330" y="4405630"/>
            <a:ext cx="811530" cy="216725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建筑</a:t>
            </a:r>
            <a:r>
              <a:rPr lang="en-US" altLang="zh-CN" sz="1600">
                <a:solidFill>
                  <a:schemeClr val="tx1"/>
                </a:solidFill>
              </a:rPr>
              <a:t>2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610860" y="2132330"/>
            <a:ext cx="811530" cy="2273300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</a:rPr>
              <a:t>楼层</a:t>
            </a:r>
            <a:r>
              <a:rPr lang="en-US" altLang="zh-CN" sz="1400">
                <a:solidFill>
                  <a:schemeClr val="tx1"/>
                </a:solidFill>
              </a:rPr>
              <a:t>1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422390" y="2132330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>
                <a:solidFill>
                  <a:schemeClr val="tx1"/>
                </a:solidFill>
              </a:rPr>
              <a:t>设备编号，全网编号，开</a:t>
            </a:r>
            <a:r>
              <a:rPr lang="en-US" altLang="zh-CN" sz="1200">
                <a:solidFill>
                  <a:schemeClr val="tx1"/>
                </a:solidFill>
              </a:rPr>
              <a:t>/</a:t>
            </a:r>
            <a:r>
              <a:rPr lang="zh-CN" altLang="en-US" sz="1200">
                <a:solidFill>
                  <a:schemeClr val="tx1"/>
                </a:solidFill>
              </a:rPr>
              <a:t>关，功率配置，频段设置，工作时间设置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40" name="图片 39" descr="勾选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545" y="2132330"/>
            <a:ext cx="273050" cy="273050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6422390" y="2539365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>
                <a:solidFill>
                  <a:schemeClr val="tx1"/>
                </a:solidFill>
              </a:rPr>
              <a:t>2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S</a:t>
            </a:r>
            <a:r>
              <a:rPr lang="en-US" altLang="zh-CN" sz="1200">
                <a:solidFill>
                  <a:schemeClr val="tx1"/>
                </a:solidFill>
              </a:rPr>
              <a:t>11001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sz="1200">
                <a:solidFill>
                  <a:schemeClr val="tx1"/>
                </a:solidFill>
              </a:rPr>
              <a:t>On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20W</a:t>
            </a:r>
            <a:r>
              <a:rPr lang="zh-CN" altLang="en-US" sz="1200">
                <a:solidFill>
                  <a:schemeClr val="tx1"/>
                </a:solidFill>
              </a:rPr>
              <a:t>，全频段，</a:t>
            </a:r>
            <a:r>
              <a:rPr lang="en-US" altLang="zh-CN" sz="1200">
                <a:solidFill>
                  <a:schemeClr val="tx1"/>
                </a:solidFill>
              </a:rPr>
              <a:t>8:00-20:00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43" name="图片 42" descr="方框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72545" y="2539365"/>
            <a:ext cx="229235" cy="229235"/>
          </a:xfrm>
          <a:prstGeom prst="rect">
            <a:avLst/>
          </a:prstGeom>
        </p:spPr>
      </p:pic>
      <p:sp>
        <p:nvSpPr>
          <p:cNvPr id="69" name="矩形 68"/>
          <p:cNvSpPr/>
          <p:nvPr/>
        </p:nvSpPr>
        <p:spPr>
          <a:xfrm>
            <a:off x="6441440" y="2993390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>
                <a:solidFill>
                  <a:schemeClr val="tx1"/>
                </a:solidFill>
              </a:rPr>
              <a:t>3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S</a:t>
            </a:r>
            <a:r>
              <a:rPr lang="en-US" altLang="zh-CN" sz="1200">
                <a:solidFill>
                  <a:schemeClr val="tx1"/>
                </a:solidFill>
              </a:rPr>
              <a:t>11002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sz="1200">
                <a:solidFill>
                  <a:schemeClr val="tx1"/>
                </a:solidFill>
              </a:rPr>
              <a:t>off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18</a:t>
            </a:r>
            <a:r>
              <a:rPr lang="en-US" altLang="zh-CN" sz="1200">
                <a:solidFill>
                  <a:schemeClr val="tx1"/>
                </a:solidFill>
              </a:rPr>
              <a:t>W</a:t>
            </a:r>
            <a:r>
              <a:rPr lang="zh-CN" altLang="en-US" sz="1200">
                <a:solidFill>
                  <a:schemeClr val="tx1"/>
                </a:solidFill>
              </a:rPr>
              <a:t>，部分频段，</a:t>
            </a:r>
            <a:r>
              <a:rPr lang="en-US" altLang="zh-CN" sz="1200">
                <a:solidFill>
                  <a:schemeClr val="tx1"/>
                </a:solidFill>
              </a:rPr>
              <a:t>8:00-20:00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70" name="图片 69" descr="方框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72545" y="3046730"/>
            <a:ext cx="229235" cy="229235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9296400" y="3674745"/>
            <a:ext cx="19202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可以通过勾选单个或者多个框选择单个或者多个设备，然后单击修改，可以进行批量修改，选择删除，可以进行单个或者批量删除。选择管理，可以进行单个或者批量管理，比如全关，全开，功率批量调节，工作时长等</a:t>
            </a:r>
            <a:endParaRPr lang="zh-CN" sz="1000"/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11010900" y="3314700"/>
            <a:ext cx="450850" cy="292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6442710" y="3446145"/>
            <a:ext cx="438150" cy="318135"/>
          </a:xfrm>
          <a:prstGeom prst="rect">
            <a:avLst/>
          </a:prstGeom>
          <a:solidFill>
            <a:schemeClr val="accent4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+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572250" y="3999865"/>
            <a:ext cx="19202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可以单击</a:t>
            </a:r>
            <a:r>
              <a:rPr lang="en-US" altLang="zh-CN" sz="1000"/>
              <a:t>+</a:t>
            </a:r>
            <a:r>
              <a:rPr lang="zh-CN" altLang="en-US" sz="1000"/>
              <a:t>，</a:t>
            </a:r>
            <a:r>
              <a:rPr lang="en-US" altLang="zh-CN" sz="1000"/>
              <a:t> </a:t>
            </a:r>
            <a:r>
              <a:rPr lang="zh-CN" altLang="en-US" sz="1000"/>
              <a:t>或者上述添加设备按钮，进行设备添加。如果是在本楼层下面添加的，则弹出对话框无需选择省，监狱，建筑和楼层，自动默认在这个楼层下的路径。</a:t>
            </a:r>
            <a:endParaRPr lang="zh-CN" altLang="en-US" sz="1000"/>
          </a:p>
        </p:txBody>
      </p:sp>
      <p:cxnSp>
        <p:nvCxnSpPr>
          <p:cNvPr id="75" name="直接箭头连接符 74"/>
          <p:cNvCxnSpPr/>
          <p:nvPr/>
        </p:nvCxnSpPr>
        <p:spPr>
          <a:xfrm flipH="1" flipV="1">
            <a:off x="7004050" y="3632200"/>
            <a:ext cx="838200" cy="279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endCxn id="9" idx="2"/>
          </p:cNvCxnSpPr>
          <p:nvPr/>
        </p:nvCxnSpPr>
        <p:spPr>
          <a:xfrm flipH="1" flipV="1">
            <a:off x="4396740" y="2082165"/>
            <a:ext cx="2175510" cy="3297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6699250" y="5403850"/>
            <a:ext cx="25971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000"/>
              <a:t>添加单个设备，设备属性包含设备</a:t>
            </a:r>
            <a:r>
              <a:rPr lang="en-US" altLang="zh-CN" sz="1000"/>
              <a:t>ID</a:t>
            </a:r>
            <a:r>
              <a:rPr lang="zh-CN" altLang="en-US" sz="1000"/>
              <a:t>（</a:t>
            </a:r>
            <a:r>
              <a:rPr lang="en-US" altLang="zh-CN" sz="1000"/>
              <a:t>1 to 99999</a:t>
            </a:r>
            <a:r>
              <a:rPr lang="zh-CN" altLang="en-US" sz="1000"/>
              <a:t>）、设备名称、</a:t>
            </a:r>
            <a:r>
              <a:rPr lang="en-US" altLang="zh-CN" sz="1000"/>
              <a:t>IP</a:t>
            </a:r>
            <a:r>
              <a:rPr lang="zh-CN" altLang="en-US" sz="1000"/>
              <a:t>地址，网口配置等，同时归属省、监狱、建筑、楼层、整体开关、各频段使能开关、发射功率、各频段每天工作时间段等，添加模式与第一节添加模式一样</a:t>
            </a:r>
            <a:endParaRPr lang="zh-CN" altLang="en-US" sz="1000"/>
          </a:p>
        </p:txBody>
      </p:sp>
      <p:sp>
        <p:nvSpPr>
          <p:cNvPr id="78" name="矩形 77"/>
          <p:cNvSpPr/>
          <p:nvPr/>
        </p:nvSpPr>
        <p:spPr>
          <a:xfrm>
            <a:off x="11842115" y="2131695"/>
            <a:ext cx="174625" cy="3610610"/>
          </a:xfrm>
          <a:prstGeom prst="rect">
            <a:avLst/>
          </a:prstGeom>
          <a:solidFill>
            <a:schemeClr val="accent4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000"/>
              <a:t>下滑条</a:t>
            </a:r>
            <a:endParaRPr lang="zh-CN" sz="1000"/>
          </a:p>
        </p:txBody>
      </p:sp>
      <p:sp>
        <p:nvSpPr>
          <p:cNvPr id="79" name="矩形 78"/>
          <p:cNvSpPr/>
          <p:nvPr/>
        </p:nvSpPr>
        <p:spPr>
          <a:xfrm>
            <a:off x="11842115" y="5742305"/>
            <a:ext cx="174625" cy="1014095"/>
          </a:xfrm>
          <a:prstGeom prst="rect">
            <a:avLst/>
          </a:prstGeom>
          <a:solidFill>
            <a:srgbClr val="FAFAFA">
              <a:alpha val="61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sz="1000"/>
          </a:p>
        </p:txBody>
      </p:sp>
      <p:sp>
        <p:nvSpPr>
          <p:cNvPr id="80" name="文本框 79"/>
          <p:cNvSpPr txBox="1"/>
          <p:nvPr/>
        </p:nvSpPr>
        <p:spPr>
          <a:xfrm>
            <a:off x="9423400" y="5198745"/>
            <a:ext cx="19202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因为超级管理员可以管理整个国家的设备，所以单个页面可能无法显示全部设备，可以通过下滑条道不同省份，不同省份之间背景色不同，用于方便客户区分，快速定位到下滑边界</a:t>
            </a:r>
            <a:endParaRPr lang="zh-CN" sz="1000"/>
          </a:p>
        </p:txBody>
      </p:sp>
      <p:cxnSp>
        <p:nvCxnSpPr>
          <p:cNvPr id="81" name="直接箭头连接符 80"/>
          <p:cNvCxnSpPr/>
          <p:nvPr/>
        </p:nvCxnSpPr>
        <p:spPr>
          <a:xfrm flipV="1">
            <a:off x="11250930" y="4953000"/>
            <a:ext cx="450850" cy="292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4802505" y="5684520"/>
            <a:ext cx="843280" cy="474345"/>
            <a:chOff x="6230" y="7250"/>
            <a:chExt cx="1328" cy="747"/>
          </a:xfrm>
        </p:grpSpPr>
        <p:pic>
          <p:nvPicPr>
            <p:cNvPr id="65" name="图片 64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70" y="7250"/>
              <a:ext cx="361" cy="361"/>
            </a:xfrm>
            <a:prstGeom prst="rect">
              <a:avLst/>
            </a:prstGeom>
          </p:spPr>
        </p:pic>
        <p:pic>
          <p:nvPicPr>
            <p:cNvPr id="66" name="图片 65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24" y="7250"/>
              <a:ext cx="361" cy="361"/>
            </a:xfrm>
            <a:prstGeom prst="rect">
              <a:avLst/>
            </a:prstGeom>
          </p:spPr>
        </p:pic>
        <p:sp>
          <p:nvSpPr>
            <p:cNvPr id="67" name="文本框 66"/>
            <p:cNvSpPr txBox="1"/>
            <p:nvPr/>
          </p:nvSpPr>
          <p:spPr>
            <a:xfrm>
              <a:off x="6230" y="7611"/>
              <a:ext cx="132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1000"/>
                <a:t>全开</a:t>
              </a:r>
              <a:r>
                <a:rPr lang="en-US" altLang="zh-CN" sz="1000"/>
                <a:t>   </a:t>
              </a:r>
              <a:r>
                <a:rPr lang="zh-CN" altLang="en-US" sz="1000"/>
                <a:t>全关</a:t>
              </a:r>
              <a:endParaRPr lang="zh-CN" altLang="en-US" sz="100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990975" y="4540250"/>
            <a:ext cx="843280" cy="474345"/>
            <a:chOff x="6230" y="7250"/>
            <a:chExt cx="1328" cy="747"/>
          </a:xfrm>
        </p:grpSpPr>
        <p:pic>
          <p:nvPicPr>
            <p:cNvPr id="54" name="图片 53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70" y="7250"/>
              <a:ext cx="361" cy="361"/>
            </a:xfrm>
            <a:prstGeom prst="rect">
              <a:avLst/>
            </a:prstGeom>
          </p:spPr>
        </p:pic>
        <p:pic>
          <p:nvPicPr>
            <p:cNvPr id="55" name="图片 54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24" y="7250"/>
              <a:ext cx="361" cy="361"/>
            </a:xfrm>
            <a:prstGeom prst="rect">
              <a:avLst/>
            </a:prstGeom>
          </p:spPr>
        </p:pic>
        <p:sp>
          <p:nvSpPr>
            <p:cNvPr id="56" name="文本框 55"/>
            <p:cNvSpPr txBox="1"/>
            <p:nvPr/>
          </p:nvSpPr>
          <p:spPr>
            <a:xfrm>
              <a:off x="6230" y="7611"/>
              <a:ext cx="132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1000"/>
                <a:t>全开</a:t>
              </a:r>
              <a:r>
                <a:rPr lang="en-US" altLang="zh-CN" sz="1000"/>
                <a:t>   </a:t>
              </a:r>
              <a:r>
                <a:rPr lang="zh-CN" altLang="en-US" sz="1000"/>
                <a:t>全关</a:t>
              </a:r>
              <a:endParaRPr lang="zh-CN" altLang="en-US" sz="1000"/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4834255" y="3482975"/>
            <a:ext cx="843280" cy="474345"/>
            <a:chOff x="6230" y="7250"/>
            <a:chExt cx="1328" cy="747"/>
          </a:xfrm>
        </p:grpSpPr>
        <p:pic>
          <p:nvPicPr>
            <p:cNvPr id="59" name="图片 58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70" y="7250"/>
              <a:ext cx="361" cy="361"/>
            </a:xfrm>
            <a:prstGeom prst="rect">
              <a:avLst/>
            </a:prstGeom>
          </p:spPr>
        </p:pic>
        <p:pic>
          <p:nvPicPr>
            <p:cNvPr id="60" name="图片 59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24" y="7250"/>
              <a:ext cx="361" cy="361"/>
            </a:xfrm>
            <a:prstGeom prst="rect">
              <a:avLst/>
            </a:prstGeom>
          </p:spPr>
        </p:pic>
        <p:sp>
          <p:nvSpPr>
            <p:cNvPr id="61" name="文本框 60"/>
            <p:cNvSpPr txBox="1"/>
            <p:nvPr/>
          </p:nvSpPr>
          <p:spPr>
            <a:xfrm>
              <a:off x="6230" y="7611"/>
              <a:ext cx="132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1000"/>
                <a:t>全开</a:t>
              </a:r>
              <a:r>
                <a:rPr lang="en-US" altLang="zh-CN" sz="1000"/>
                <a:t>   </a:t>
              </a:r>
              <a:r>
                <a:rPr lang="zh-CN" altLang="en-US" sz="1000"/>
                <a:t>全关</a:t>
              </a:r>
              <a:endParaRPr lang="zh-CN" altLang="en-US" sz="1000"/>
            </a:p>
          </p:txBody>
        </p:sp>
      </p:grpSp>
      <p:sp>
        <p:nvSpPr>
          <p:cNvPr id="62" name="文本框 61"/>
          <p:cNvSpPr txBox="1"/>
          <p:nvPr/>
        </p:nvSpPr>
        <p:spPr>
          <a:xfrm>
            <a:off x="3060700" y="2804160"/>
            <a:ext cx="19202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点击全开，全关需要弹出对话框再次确认，避免客户误点</a:t>
            </a:r>
            <a:endParaRPr lang="zh-CN" sz="1000"/>
          </a:p>
        </p:txBody>
      </p:sp>
      <p:cxnSp>
        <p:nvCxnSpPr>
          <p:cNvPr id="63" name="直接箭头连接符 62"/>
          <p:cNvCxnSpPr/>
          <p:nvPr/>
        </p:nvCxnSpPr>
        <p:spPr>
          <a:xfrm>
            <a:off x="4318000" y="3246755"/>
            <a:ext cx="506730" cy="3479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4166870" y="3428365"/>
            <a:ext cx="166370" cy="1020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1165" y="1439545"/>
            <a:ext cx="2531745" cy="5396230"/>
          </a:xfrm>
          <a:prstGeom prst="rect">
            <a:avLst/>
          </a:prstGeom>
          <a:solidFill>
            <a:schemeClr val="accent4">
              <a:lumMod val="75000"/>
              <a:alpha val="7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/>
          </a:p>
        </p:txBody>
      </p:sp>
      <p:sp>
        <p:nvSpPr>
          <p:cNvPr id="37" name="矩形 36"/>
          <p:cNvSpPr/>
          <p:nvPr/>
        </p:nvSpPr>
        <p:spPr>
          <a:xfrm>
            <a:off x="805180" y="170370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全国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>
            <a:stCxn id="37" idx="1"/>
          </p:cNvCxnSpPr>
          <p:nvPr/>
        </p:nvCxnSpPr>
        <p:spPr>
          <a:xfrm flipH="1">
            <a:off x="799465" y="1821815"/>
            <a:ext cx="5715" cy="12960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01370" y="213233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利雅得省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05180" y="249491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省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05180" y="285750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省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15" name="动作按钮: 前进或下一项 14"/>
          <p:cNvSpPr/>
          <p:nvPr/>
        </p:nvSpPr>
        <p:spPr>
          <a:xfrm>
            <a:off x="690880" y="217805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动作按钮: 前进或下一项 15"/>
          <p:cNvSpPr/>
          <p:nvPr/>
        </p:nvSpPr>
        <p:spPr>
          <a:xfrm>
            <a:off x="703580" y="2517775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动作按钮: 前进或下一项 21"/>
          <p:cNvSpPr/>
          <p:nvPr/>
        </p:nvSpPr>
        <p:spPr>
          <a:xfrm>
            <a:off x="703580" y="290703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926465" y="3168015"/>
            <a:ext cx="5715" cy="12960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932180" y="331152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26465" y="376428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32180" y="422783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3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9" name="动作按钮: 前进或下一项 28"/>
          <p:cNvSpPr/>
          <p:nvPr/>
        </p:nvSpPr>
        <p:spPr>
          <a:xfrm>
            <a:off x="926465" y="3358515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动作按钮: 前进或下一项 29"/>
          <p:cNvSpPr/>
          <p:nvPr/>
        </p:nvSpPr>
        <p:spPr>
          <a:xfrm>
            <a:off x="872490" y="381762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动作按钮: 前进或下一项 30"/>
          <p:cNvSpPr/>
          <p:nvPr/>
        </p:nvSpPr>
        <p:spPr>
          <a:xfrm>
            <a:off x="872490" y="426593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1128395" y="4317365"/>
            <a:ext cx="3175" cy="6356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131570" y="473392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建筑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350010" y="514413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楼层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1341755" y="4953635"/>
            <a:ext cx="2540" cy="45021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1341755" y="550672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楼层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296400" y="1510030"/>
            <a:ext cx="24053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/>
              <a:t>3. </a:t>
            </a:r>
            <a:r>
              <a:rPr lang="zh-CN" sz="1400"/>
              <a:t>单击某个省份</a:t>
            </a:r>
            <a:endParaRPr lang="zh-CN" sz="1400"/>
          </a:p>
        </p:txBody>
      </p:sp>
      <p:grpSp>
        <p:nvGrpSpPr>
          <p:cNvPr id="51" name="组合 50"/>
          <p:cNvGrpSpPr/>
          <p:nvPr/>
        </p:nvGrpSpPr>
        <p:grpSpPr>
          <a:xfrm>
            <a:off x="3179445" y="1830705"/>
            <a:ext cx="5725160" cy="252095"/>
            <a:chOff x="5007" y="2883"/>
            <a:chExt cx="9016" cy="397"/>
          </a:xfrm>
        </p:grpSpPr>
        <p:sp>
          <p:nvSpPr>
            <p:cNvPr id="9" name="矩形 8"/>
            <p:cNvSpPr/>
            <p:nvPr/>
          </p:nvSpPr>
          <p:spPr>
            <a:xfrm>
              <a:off x="6285" y="2883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添加设备</a:t>
              </a:r>
              <a:endParaRPr lang="zh-CN" sz="1000"/>
            </a:p>
          </p:txBody>
        </p:sp>
        <p:sp>
          <p:nvSpPr>
            <p:cNvPr id="45" name="矩形 44"/>
            <p:cNvSpPr/>
            <p:nvPr/>
          </p:nvSpPr>
          <p:spPr>
            <a:xfrm>
              <a:off x="7563" y="2884"/>
              <a:ext cx="1303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批量添加</a:t>
              </a:r>
              <a:endParaRPr lang="zh-CN" sz="1000"/>
            </a:p>
          </p:txBody>
        </p:sp>
        <p:sp>
          <p:nvSpPr>
            <p:cNvPr id="46" name="矩形 45"/>
            <p:cNvSpPr/>
            <p:nvPr/>
          </p:nvSpPr>
          <p:spPr>
            <a:xfrm>
              <a:off x="8866" y="2883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修改</a:t>
              </a:r>
              <a:endParaRPr lang="zh-CN" sz="1000"/>
            </a:p>
          </p:txBody>
        </p:sp>
        <p:sp>
          <p:nvSpPr>
            <p:cNvPr id="47" name="矩形 46"/>
            <p:cNvSpPr/>
            <p:nvPr/>
          </p:nvSpPr>
          <p:spPr>
            <a:xfrm>
              <a:off x="10146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删除</a:t>
              </a:r>
              <a:endParaRPr lang="zh-CN" sz="1000"/>
            </a:p>
          </p:txBody>
        </p:sp>
        <p:sp>
          <p:nvSpPr>
            <p:cNvPr id="48" name="矩形 47"/>
            <p:cNvSpPr/>
            <p:nvPr/>
          </p:nvSpPr>
          <p:spPr>
            <a:xfrm>
              <a:off x="11447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管理</a:t>
              </a:r>
              <a:endParaRPr lang="zh-CN" sz="1000"/>
            </a:p>
          </p:txBody>
        </p:sp>
        <p:sp>
          <p:nvSpPr>
            <p:cNvPr id="49" name="矩形 48"/>
            <p:cNvSpPr/>
            <p:nvPr/>
          </p:nvSpPr>
          <p:spPr>
            <a:xfrm>
              <a:off x="5007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所有设备</a:t>
              </a:r>
              <a:endParaRPr lang="zh-CN" sz="1000"/>
            </a:p>
          </p:txBody>
        </p:sp>
        <p:sp>
          <p:nvSpPr>
            <p:cNvPr id="50" name="矩形 49"/>
            <p:cNvSpPr/>
            <p:nvPr/>
          </p:nvSpPr>
          <p:spPr>
            <a:xfrm>
              <a:off x="12745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查找</a:t>
              </a:r>
              <a:endParaRPr lang="zh-CN" sz="1000"/>
            </a:p>
          </p:txBody>
        </p:sp>
      </p:grpSp>
      <p:sp>
        <p:nvSpPr>
          <p:cNvPr id="52" name="矩形 51"/>
          <p:cNvSpPr/>
          <p:nvPr/>
        </p:nvSpPr>
        <p:spPr>
          <a:xfrm>
            <a:off x="3179445" y="2132330"/>
            <a:ext cx="810895" cy="4441190"/>
          </a:xfrm>
          <a:prstGeom prst="rect">
            <a:avLst/>
          </a:prstGeom>
          <a:solidFill>
            <a:schemeClr val="accent6">
              <a:alpha val="18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省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990975" y="2132330"/>
            <a:ext cx="811530" cy="444055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监狱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799330" y="2132330"/>
            <a:ext cx="811530" cy="2273300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建筑</a:t>
            </a:r>
            <a:r>
              <a:rPr lang="en-US" altLang="zh-CN" sz="1600">
                <a:solidFill>
                  <a:schemeClr val="tx1"/>
                </a:solidFill>
              </a:rPr>
              <a:t>1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799330" y="4405630"/>
            <a:ext cx="811530" cy="216725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建筑</a:t>
            </a:r>
            <a:r>
              <a:rPr lang="en-US" altLang="zh-CN" sz="1600">
                <a:solidFill>
                  <a:schemeClr val="tx1"/>
                </a:solidFill>
              </a:rPr>
              <a:t>2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610860" y="2132330"/>
            <a:ext cx="811530" cy="2273300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</a:rPr>
              <a:t>楼层</a:t>
            </a:r>
            <a:r>
              <a:rPr lang="en-US" altLang="zh-CN" sz="1400">
                <a:solidFill>
                  <a:schemeClr val="tx1"/>
                </a:solidFill>
              </a:rPr>
              <a:t>1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422390" y="2132330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>
                <a:solidFill>
                  <a:schemeClr val="tx1"/>
                </a:solidFill>
              </a:rPr>
              <a:t>设备编号，全网编号，开</a:t>
            </a:r>
            <a:r>
              <a:rPr lang="en-US" altLang="zh-CN" sz="1200">
                <a:solidFill>
                  <a:schemeClr val="tx1"/>
                </a:solidFill>
              </a:rPr>
              <a:t>/</a:t>
            </a:r>
            <a:r>
              <a:rPr lang="zh-CN" altLang="en-US" sz="1200">
                <a:solidFill>
                  <a:schemeClr val="tx1"/>
                </a:solidFill>
              </a:rPr>
              <a:t>关，功率配置，频段设置，工作时间设置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40" name="图片 39" descr="勾选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545" y="2132330"/>
            <a:ext cx="273050" cy="273050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6422390" y="2539365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>
                <a:solidFill>
                  <a:schemeClr val="tx1"/>
                </a:solidFill>
              </a:rPr>
              <a:t>2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S</a:t>
            </a:r>
            <a:r>
              <a:rPr lang="en-US" altLang="zh-CN" sz="1200">
                <a:solidFill>
                  <a:schemeClr val="tx1"/>
                </a:solidFill>
              </a:rPr>
              <a:t>11001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sz="1200">
                <a:solidFill>
                  <a:schemeClr val="tx1"/>
                </a:solidFill>
              </a:rPr>
              <a:t>On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20W</a:t>
            </a:r>
            <a:r>
              <a:rPr lang="zh-CN" altLang="en-US" sz="1200">
                <a:solidFill>
                  <a:schemeClr val="tx1"/>
                </a:solidFill>
              </a:rPr>
              <a:t>，全频段，</a:t>
            </a:r>
            <a:r>
              <a:rPr lang="en-US" altLang="zh-CN" sz="1200">
                <a:solidFill>
                  <a:schemeClr val="tx1"/>
                </a:solidFill>
              </a:rPr>
              <a:t>8:00-20:00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43" name="图片 42" descr="方框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72545" y="2539365"/>
            <a:ext cx="229235" cy="229235"/>
          </a:xfrm>
          <a:prstGeom prst="rect">
            <a:avLst/>
          </a:prstGeom>
        </p:spPr>
      </p:pic>
      <p:sp>
        <p:nvSpPr>
          <p:cNvPr id="69" name="矩形 68"/>
          <p:cNvSpPr/>
          <p:nvPr/>
        </p:nvSpPr>
        <p:spPr>
          <a:xfrm>
            <a:off x="6441440" y="2993390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>
                <a:solidFill>
                  <a:schemeClr val="tx1"/>
                </a:solidFill>
              </a:rPr>
              <a:t>3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S</a:t>
            </a:r>
            <a:r>
              <a:rPr lang="en-US" altLang="zh-CN" sz="1200">
                <a:solidFill>
                  <a:schemeClr val="tx1"/>
                </a:solidFill>
              </a:rPr>
              <a:t>11002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sz="1200">
                <a:solidFill>
                  <a:schemeClr val="tx1"/>
                </a:solidFill>
              </a:rPr>
              <a:t>off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18</a:t>
            </a:r>
            <a:r>
              <a:rPr lang="en-US" altLang="zh-CN" sz="1200">
                <a:solidFill>
                  <a:schemeClr val="tx1"/>
                </a:solidFill>
              </a:rPr>
              <a:t>W</a:t>
            </a:r>
            <a:r>
              <a:rPr lang="zh-CN" altLang="en-US" sz="1200">
                <a:solidFill>
                  <a:schemeClr val="tx1"/>
                </a:solidFill>
              </a:rPr>
              <a:t>，部分频段，</a:t>
            </a:r>
            <a:r>
              <a:rPr lang="en-US" altLang="zh-CN" sz="1200">
                <a:solidFill>
                  <a:schemeClr val="tx1"/>
                </a:solidFill>
              </a:rPr>
              <a:t>8:00-20:00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70" name="图片 69" descr="方框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72545" y="3046730"/>
            <a:ext cx="229235" cy="229235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9296400" y="3674745"/>
            <a:ext cx="19202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可以通过勾选单个或者多个框选择单个或者多个设备，然后单击修改，可以进行批量修改，选择删除，可以进行单个或者批量删除。选择管理，可以进行单个或者批量管理，比如全关，全开，功率批量调节，工作时长等</a:t>
            </a:r>
            <a:endParaRPr lang="zh-CN" sz="1000"/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11010900" y="3314700"/>
            <a:ext cx="450850" cy="292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6442710" y="3446145"/>
            <a:ext cx="438150" cy="318135"/>
          </a:xfrm>
          <a:prstGeom prst="rect">
            <a:avLst/>
          </a:prstGeom>
          <a:solidFill>
            <a:schemeClr val="accent4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+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572250" y="3999865"/>
            <a:ext cx="19202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可以单击</a:t>
            </a:r>
            <a:r>
              <a:rPr lang="en-US" altLang="zh-CN" sz="1000"/>
              <a:t>+</a:t>
            </a:r>
            <a:r>
              <a:rPr lang="zh-CN" altLang="en-US" sz="1000"/>
              <a:t>，</a:t>
            </a:r>
            <a:r>
              <a:rPr lang="en-US" altLang="zh-CN" sz="1000"/>
              <a:t> </a:t>
            </a:r>
            <a:r>
              <a:rPr lang="zh-CN" altLang="en-US" sz="1000"/>
              <a:t>或者上述添加设备按钮，进行设备添加。如果是在本楼层下面添加的，则弹出对话框无需选择省，监狱，建筑和楼层，自动默认在这个楼层下的路径。</a:t>
            </a:r>
            <a:endParaRPr lang="zh-CN" altLang="en-US" sz="1000"/>
          </a:p>
        </p:txBody>
      </p:sp>
      <p:cxnSp>
        <p:nvCxnSpPr>
          <p:cNvPr id="75" name="直接箭头连接符 74"/>
          <p:cNvCxnSpPr/>
          <p:nvPr/>
        </p:nvCxnSpPr>
        <p:spPr>
          <a:xfrm flipH="1" flipV="1">
            <a:off x="7004050" y="3632200"/>
            <a:ext cx="838200" cy="279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endCxn id="9" idx="2"/>
          </p:cNvCxnSpPr>
          <p:nvPr/>
        </p:nvCxnSpPr>
        <p:spPr>
          <a:xfrm flipH="1" flipV="1">
            <a:off x="4396740" y="2082165"/>
            <a:ext cx="2500630" cy="32067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7004050" y="5144135"/>
            <a:ext cx="25971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000"/>
              <a:t>添加单个设备，设备属性包含设备</a:t>
            </a:r>
            <a:r>
              <a:rPr lang="en-US" altLang="zh-CN" sz="1000"/>
              <a:t>ID</a:t>
            </a:r>
            <a:r>
              <a:rPr lang="zh-CN" altLang="en-US" sz="1000"/>
              <a:t>（</a:t>
            </a:r>
            <a:r>
              <a:rPr lang="en-US" altLang="zh-CN" sz="1000"/>
              <a:t>1 to 99999</a:t>
            </a:r>
            <a:r>
              <a:rPr lang="zh-CN" altLang="en-US" sz="1000"/>
              <a:t>）、设备名称、</a:t>
            </a:r>
            <a:r>
              <a:rPr lang="en-US" altLang="zh-CN" sz="1000"/>
              <a:t>IP</a:t>
            </a:r>
            <a:r>
              <a:rPr lang="zh-CN" altLang="en-US" sz="1000"/>
              <a:t>地址，网口配置等，同时归属省、监狱、建筑、楼层、整体开关、各频段使能开关、发射功率、各频段每天工作时间段等，添加模式与第一节添加模式一样</a:t>
            </a:r>
            <a:endParaRPr lang="zh-CN" altLang="en-US" sz="1000"/>
          </a:p>
        </p:txBody>
      </p:sp>
      <p:pic>
        <p:nvPicPr>
          <p:cNvPr id="42" name="图片 41" descr="方框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2195" y="3606800"/>
            <a:ext cx="229235" cy="229235"/>
          </a:xfrm>
          <a:prstGeom prst="rect">
            <a:avLst/>
          </a:prstGeom>
        </p:spPr>
      </p:pic>
      <p:pic>
        <p:nvPicPr>
          <p:cNvPr id="54" name="图片 53" descr="方框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4255" y="3588385"/>
            <a:ext cx="229235" cy="229235"/>
          </a:xfrm>
          <a:prstGeom prst="rect">
            <a:avLst/>
          </a:prstGeom>
        </p:spPr>
      </p:pic>
      <p:pic>
        <p:nvPicPr>
          <p:cNvPr id="56" name="图片 55" descr="方框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18430" y="3606800"/>
            <a:ext cx="229235" cy="229235"/>
          </a:xfrm>
          <a:prstGeom prst="rect">
            <a:avLst/>
          </a:prstGeom>
        </p:spPr>
      </p:pic>
      <p:pic>
        <p:nvPicPr>
          <p:cNvPr id="58" name="图片 57" descr="方框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8340" y="3588385"/>
            <a:ext cx="229235" cy="229235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4767580" y="3911600"/>
            <a:ext cx="8432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全开</a:t>
            </a:r>
            <a:r>
              <a:rPr lang="en-US" altLang="zh-CN" sz="1000"/>
              <a:t>   </a:t>
            </a:r>
            <a:r>
              <a:rPr lang="zh-CN" altLang="en-US" sz="1000"/>
              <a:t>全关</a:t>
            </a:r>
            <a:endParaRPr lang="zh-CN" altLang="en-US" sz="1000"/>
          </a:p>
        </p:txBody>
      </p:sp>
      <p:sp>
        <p:nvSpPr>
          <p:cNvPr id="61" name="文本框 60"/>
          <p:cNvSpPr txBox="1"/>
          <p:nvPr/>
        </p:nvSpPr>
        <p:spPr>
          <a:xfrm>
            <a:off x="5629910" y="3911600"/>
            <a:ext cx="8432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全开</a:t>
            </a:r>
            <a:r>
              <a:rPr lang="en-US" altLang="zh-CN" sz="1000"/>
              <a:t>   </a:t>
            </a:r>
            <a:r>
              <a:rPr lang="zh-CN" altLang="en-US" sz="1000"/>
              <a:t>全关</a:t>
            </a:r>
            <a:endParaRPr lang="zh-CN" altLang="en-US" sz="1000"/>
          </a:p>
        </p:txBody>
      </p:sp>
      <p:grpSp>
        <p:nvGrpSpPr>
          <p:cNvPr id="63" name="组合 62"/>
          <p:cNvGrpSpPr/>
          <p:nvPr/>
        </p:nvGrpSpPr>
        <p:grpSpPr>
          <a:xfrm>
            <a:off x="3956050" y="4603750"/>
            <a:ext cx="843280" cy="474345"/>
            <a:chOff x="6230" y="7250"/>
            <a:chExt cx="1328" cy="747"/>
          </a:xfrm>
        </p:grpSpPr>
        <p:pic>
          <p:nvPicPr>
            <p:cNvPr id="55" name="图片 54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370" y="7250"/>
              <a:ext cx="361" cy="361"/>
            </a:xfrm>
            <a:prstGeom prst="rect">
              <a:avLst/>
            </a:prstGeom>
          </p:spPr>
        </p:pic>
        <p:pic>
          <p:nvPicPr>
            <p:cNvPr id="59" name="图片 58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924" y="7250"/>
              <a:ext cx="361" cy="361"/>
            </a:xfrm>
            <a:prstGeom prst="rect">
              <a:avLst/>
            </a:prstGeom>
          </p:spPr>
        </p:pic>
        <p:sp>
          <p:nvSpPr>
            <p:cNvPr id="62" name="文本框 61"/>
            <p:cNvSpPr txBox="1"/>
            <p:nvPr/>
          </p:nvSpPr>
          <p:spPr>
            <a:xfrm>
              <a:off x="6230" y="7611"/>
              <a:ext cx="132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1000"/>
                <a:t>全开</a:t>
              </a:r>
              <a:r>
                <a:rPr lang="en-US" altLang="zh-CN" sz="1000"/>
                <a:t>   </a:t>
              </a:r>
              <a:r>
                <a:rPr lang="zh-CN" altLang="en-US" sz="1000"/>
                <a:t>全关</a:t>
              </a:r>
              <a:endParaRPr lang="zh-CN" altLang="en-US" sz="1000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4802505" y="5684520"/>
            <a:ext cx="843280" cy="474345"/>
            <a:chOff x="6230" y="7250"/>
            <a:chExt cx="1328" cy="747"/>
          </a:xfrm>
        </p:grpSpPr>
        <p:pic>
          <p:nvPicPr>
            <p:cNvPr id="65" name="图片 64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370" y="7250"/>
              <a:ext cx="361" cy="361"/>
            </a:xfrm>
            <a:prstGeom prst="rect">
              <a:avLst/>
            </a:prstGeom>
          </p:spPr>
        </p:pic>
        <p:pic>
          <p:nvPicPr>
            <p:cNvPr id="66" name="图片 65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924" y="7250"/>
              <a:ext cx="361" cy="361"/>
            </a:xfrm>
            <a:prstGeom prst="rect">
              <a:avLst/>
            </a:prstGeom>
          </p:spPr>
        </p:pic>
        <p:sp>
          <p:nvSpPr>
            <p:cNvPr id="67" name="文本框 66"/>
            <p:cNvSpPr txBox="1"/>
            <p:nvPr/>
          </p:nvSpPr>
          <p:spPr>
            <a:xfrm>
              <a:off x="6230" y="7611"/>
              <a:ext cx="132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1000"/>
                <a:t>全开</a:t>
              </a:r>
              <a:r>
                <a:rPr lang="en-US" altLang="zh-CN" sz="1000"/>
                <a:t>   </a:t>
              </a:r>
              <a:r>
                <a:rPr lang="zh-CN" altLang="en-US" sz="1000"/>
                <a:t>全关</a:t>
              </a:r>
              <a:endParaRPr lang="zh-CN" altLang="en-US" sz="1000"/>
            </a:p>
          </p:txBody>
        </p:sp>
      </p:grpSp>
    </p:spTree>
    <p:custDataLst>
      <p:tags r:id="rId1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1165" y="1439545"/>
            <a:ext cx="2531745" cy="5396230"/>
          </a:xfrm>
          <a:prstGeom prst="rect">
            <a:avLst/>
          </a:prstGeom>
          <a:solidFill>
            <a:schemeClr val="accent4">
              <a:lumMod val="75000"/>
              <a:alpha val="7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/>
          </a:p>
        </p:txBody>
      </p:sp>
      <p:sp>
        <p:nvSpPr>
          <p:cNvPr id="37" name="矩形 36"/>
          <p:cNvSpPr/>
          <p:nvPr/>
        </p:nvSpPr>
        <p:spPr>
          <a:xfrm>
            <a:off x="805180" y="170370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全国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>
            <a:stCxn id="37" idx="1"/>
          </p:cNvCxnSpPr>
          <p:nvPr/>
        </p:nvCxnSpPr>
        <p:spPr>
          <a:xfrm flipH="1">
            <a:off x="799465" y="1821815"/>
            <a:ext cx="5715" cy="12960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01370" y="213233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利雅得省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05180" y="249491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省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05180" y="285750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省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15" name="动作按钮: 前进或下一项 14"/>
          <p:cNvSpPr/>
          <p:nvPr/>
        </p:nvSpPr>
        <p:spPr>
          <a:xfrm>
            <a:off x="690880" y="217805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动作按钮: 前进或下一项 15"/>
          <p:cNvSpPr/>
          <p:nvPr/>
        </p:nvSpPr>
        <p:spPr>
          <a:xfrm>
            <a:off x="703580" y="2517775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动作按钮: 前进或下一项 21"/>
          <p:cNvSpPr/>
          <p:nvPr/>
        </p:nvSpPr>
        <p:spPr>
          <a:xfrm>
            <a:off x="703580" y="290703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926465" y="3168015"/>
            <a:ext cx="5715" cy="12960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932180" y="331152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26465" y="376428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32180" y="422783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3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9" name="动作按钮: 前进或下一项 28"/>
          <p:cNvSpPr/>
          <p:nvPr/>
        </p:nvSpPr>
        <p:spPr>
          <a:xfrm>
            <a:off x="926465" y="3358515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动作按钮: 前进或下一项 29"/>
          <p:cNvSpPr/>
          <p:nvPr/>
        </p:nvSpPr>
        <p:spPr>
          <a:xfrm>
            <a:off x="872490" y="381762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动作按钮: 前进或下一项 30"/>
          <p:cNvSpPr/>
          <p:nvPr/>
        </p:nvSpPr>
        <p:spPr>
          <a:xfrm>
            <a:off x="872490" y="426593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1128395" y="4317365"/>
            <a:ext cx="3175" cy="6356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131570" y="473392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建筑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350010" y="514413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楼层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1341755" y="4953635"/>
            <a:ext cx="2540" cy="45021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1341755" y="550672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楼层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296400" y="1510030"/>
            <a:ext cx="24053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/>
              <a:t>3. </a:t>
            </a:r>
            <a:r>
              <a:rPr lang="zh-CN" sz="1400"/>
              <a:t>单击某个省份</a:t>
            </a:r>
            <a:endParaRPr lang="zh-CN" sz="1400"/>
          </a:p>
        </p:txBody>
      </p:sp>
      <p:grpSp>
        <p:nvGrpSpPr>
          <p:cNvPr id="51" name="组合 50"/>
          <p:cNvGrpSpPr/>
          <p:nvPr/>
        </p:nvGrpSpPr>
        <p:grpSpPr>
          <a:xfrm>
            <a:off x="3179445" y="1830705"/>
            <a:ext cx="5725160" cy="252095"/>
            <a:chOff x="5007" y="2883"/>
            <a:chExt cx="9016" cy="397"/>
          </a:xfrm>
        </p:grpSpPr>
        <p:sp>
          <p:nvSpPr>
            <p:cNvPr id="9" name="矩形 8"/>
            <p:cNvSpPr/>
            <p:nvPr/>
          </p:nvSpPr>
          <p:spPr>
            <a:xfrm>
              <a:off x="6285" y="2883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添加设备</a:t>
              </a:r>
              <a:endParaRPr lang="zh-CN" sz="1000"/>
            </a:p>
          </p:txBody>
        </p:sp>
        <p:sp>
          <p:nvSpPr>
            <p:cNvPr id="45" name="矩形 44"/>
            <p:cNvSpPr/>
            <p:nvPr/>
          </p:nvSpPr>
          <p:spPr>
            <a:xfrm>
              <a:off x="7563" y="2884"/>
              <a:ext cx="1303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批量添加</a:t>
              </a:r>
              <a:endParaRPr lang="zh-CN" sz="1000"/>
            </a:p>
          </p:txBody>
        </p:sp>
        <p:sp>
          <p:nvSpPr>
            <p:cNvPr id="46" name="矩形 45"/>
            <p:cNvSpPr/>
            <p:nvPr/>
          </p:nvSpPr>
          <p:spPr>
            <a:xfrm>
              <a:off x="8866" y="2883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修改</a:t>
              </a:r>
              <a:endParaRPr lang="zh-CN" sz="1000"/>
            </a:p>
          </p:txBody>
        </p:sp>
        <p:sp>
          <p:nvSpPr>
            <p:cNvPr id="47" name="矩形 46"/>
            <p:cNvSpPr/>
            <p:nvPr/>
          </p:nvSpPr>
          <p:spPr>
            <a:xfrm>
              <a:off x="10146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删除</a:t>
              </a:r>
              <a:endParaRPr lang="zh-CN" sz="1000"/>
            </a:p>
          </p:txBody>
        </p:sp>
        <p:sp>
          <p:nvSpPr>
            <p:cNvPr id="48" name="矩形 47"/>
            <p:cNvSpPr/>
            <p:nvPr/>
          </p:nvSpPr>
          <p:spPr>
            <a:xfrm>
              <a:off x="11447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管理</a:t>
              </a:r>
              <a:endParaRPr lang="zh-CN" sz="1000"/>
            </a:p>
          </p:txBody>
        </p:sp>
        <p:sp>
          <p:nvSpPr>
            <p:cNvPr id="49" name="矩形 48"/>
            <p:cNvSpPr/>
            <p:nvPr/>
          </p:nvSpPr>
          <p:spPr>
            <a:xfrm>
              <a:off x="5007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所有设备</a:t>
              </a:r>
              <a:endParaRPr lang="zh-CN" sz="1000"/>
            </a:p>
          </p:txBody>
        </p:sp>
        <p:sp>
          <p:nvSpPr>
            <p:cNvPr id="50" name="矩形 49"/>
            <p:cNvSpPr/>
            <p:nvPr/>
          </p:nvSpPr>
          <p:spPr>
            <a:xfrm>
              <a:off x="12745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查找</a:t>
              </a:r>
              <a:endParaRPr lang="zh-CN" sz="1000"/>
            </a:p>
          </p:txBody>
        </p:sp>
      </p:grpSp>
      <p:sp>
        <p:nvSpPr>
          <p:cNvPr id="53" name="矩形 52"/>
          <p:cNvSpPr/>
          <p:nvPr/>
        </p:nvSpPr>
        <p:spPr>
          <a:xfrm>
            <a:off x="3197225" y="2132330"/>
            <a:ext cx="811530" cy="444055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监狱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005580" y="2132330"/>
            <a:ext cx="811530" cy="2273300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建筑</a:t>
            </a:r>
            <a:r>
              <a:rPr lang="en-US" altLang="zh-CN" sz="1600">
                <a:solidFill>
                  <a:schemeClr val="tx1"/>
                </a:solidFill>
              </a:rPr>
              <a:t>1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05580" y="4405630"/>
            <a:ext cx="811530" cy="216725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建筑</a:t>
            </a:r>
            <a:r>
              <a:rPr lang="en-US" altLang="zh-CN" sz="1600">
                <a:solidFill>
                  <a:schemeClr val="tx1"/>
                </a:solidFill>
              </a:rPr>
              <a:t>2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817110" y="2132330"/>
            <a:ext cx="811530" cy="2273300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</a:rPr>
              <a:t>楼层</a:t>
            </a:r>
            <a:r>
              <a:rPr lang="en-US" altLang="zh-CN" sz="1400">
                <a:solidFill>
                  <a:schemeClr val="tx1"/>
                </a:solidFill>
              </a:rPr>
              <a:t>1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628640" y="2132330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>
                <a:solidFill>
                  <a:schemeClr val="tx1"/>
                </a:solidFill>
              </a:rPr>
              <a:t>设备编号，全网编号，开</a:t>
            </a:r>
            <a:r>
              <a:rPr lang="en-US" altLang="zh-CN" sz="1200">
                <a:solidFill>
                  <a:schemeClr val="tx1"/>
                </a:solidFill>
              </a:rPr>
              <a:t>/</a:t>
            </a:r>
            <a:r>
              <a:rPr lang="zh-CN" altLang="en-US" sz="1200">
                <a:solidFill>
                  <a:schemeClr val="tx1"/>
                </a:solidFill>
              </a:rPr>
              <a:t>关，功率配置，频段设置，工作时间设置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40" name="图片 39" descr="勾选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8795" y="2132330"/>
            <a:ext cx="273050" cy="273050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5628640" y="2539365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>
                <a:solidFill>
                  <a:schemeClr val="tx1"/>
                </a:solidFill>
              </a:rPr>
              <a:t>2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S</a:t>
            </a:r>
            <a:r>
              <a:rPr lang="en-US" altLang="zh-CN" sz="1200">
                <a:solidFill>
                  <a:schemeClr val="tx1"/>
                </a:solidFill>
              </a:rPr>
              <a:t>11001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sz="1200">
                <a:solidFill>
                  <a:schemeClr val="tx1"/>
                </a:solidFill>
              </a:rPr>
              <a:t>On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20W</a:t>
            </a:r>
            <a:r>
              <a:rPr lang="zh-CN" altLang="en-US" sz="1200">
                <a:solidFill>
                  <a:schemeClr val="tx1"/>
                </a:solidFill>
              </a:rPr>
              <a:t>，全频段，</a:t>
            </a:r>
            <a:r>
              <a:rPr lang="en-US" altLang="zh-CN" sz="1200">
                <a:solidFill>
                  <a:schemeClr val="tx1"/>
                </a:solidFill>
              </a:rPr>
              <a:t>8:00-20:00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43" name="图片 42" descr="方框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8795" y="2539365"/>
            <a:ext cx="229235" cy="229235"/>
          </a:xfrm>
          <a:prstGeom prst="rect">
            <a:avLst/>
          </a:prstGeom>
        </p:spPr>
      </p:pic>
      <p:sp>
        <p:nvSpPr>
          <p:cNvPr id="69" name="矩形 68"/>
          <p:cNvSpPr/>
          <p:nvPr/>
        </p:nvSpPr>
        <p:spPr>
          <a:xfrm>
            <a:off x="5647690" y="2993390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>
                <a:solidFill>
                  <a:schemeClr val="tx1"/>
                </a:solidFill>
              </a:rPr>
              <a:t>3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S</a:t>
            </a:r>
            <a:r>
              <a:rPr lang="en-US" altLang="zh-CN" sz="1200">
                <a:solidFill>
                  <a:schemeClr val="tx1"/>
                </a:solidFill>
              </a:rPr>
              <a:t>11002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sz="1200">
                <a:solidFill>
                  <a:schemeClr val="tx1"/>
                </a:solidFill>
              </a:rPr>
              <a:t>off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18</a:t>
            </a:r>
            <a:r>
              <a:rPr lang="en-US" altLang="zh-CN" sz="1200">
                <a:solidFill>
                  <a:schemeClr val="tx1"/>
                </a:solidFill>
              </a:rPr>
              <a:t>W</a:t>
            </a:r>
            <a:r>
              <a:rPr lang="zh-CN" altLang="en-US" sz="1200">
                <a:solidFill>
                  <a:schemeClr val="tx1"/>
                </a:solidFill>
              </a:rPr>
              <a:t>，部分频段，</a:t>
            </a:r>
            <a:r>
              <a:rPr lang="en-US" altLang="zh-CN" sz="1200">
                <a:solidFill>
                  <a:schemeClr val="tx1"/>
                </a:solidFill>
              </a:rPr>
              <a:t>8:00-20:00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70" name="图片 69" descr="方框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8795" y="3046730"/>
            <a:ext cx="229235" cy="229235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8502650" y="3674745"/>
            <a:ext cx="19202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可以通过勾选单个或者多个框选择单个或者多个设备，然后单击修改，可以进行批量修改，选择删除，可以进行单个或者批量删除。选择管理，可以进行单个或者批量管理，比如全关，全开，功率批量调节，工作时长等</a:t>
            </a:r>
            <a:endParaRPr lang="zh-CN" sz="1000"/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10217150" y="3314700"/>
            <a:ext cx="450850" cy="292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648960" y="3446145"/>
            <a:ext cx="438150" cy="318135"/>
          </a:xfrm>
          <a:prstGeom prst="rect">
            <a:avLst/>
          </a:prstGeom>
          <a:solidFill>
            <a:schemeClr val="accent4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+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778500" y="3999865"/>
            <a:ext cx="19202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可以单击</a:t>
            </a:r>
            <a:r>
              <a:rPr lang="en-US" altLang="zh-CN" sz="1000"/>
              <a:t>+</a:t>
            </a:r>
            <a:r>
              <a:rPr lang="zh-CN" altLang="en-US" sz="1000"/>
              <a:t>，</a:t>
            </a:r>
            <a:r>
              <a:rPr lang="en-US" altLang="zh-CN" sz="1000"/>
              <a:t> </a:t>
            </a:r>
            <a:r>
              <a:rPr lang="zh-CN" altLang="en-US" sz="1000"/>
              <a:t>或者上述添加设备按钮，进行设备添加。如果是在本楼层下面添加的，则弹出对话框无需选择省，监狱，建筑和楼层，自动默认在这个楼层下的路径。</a:t>
            </a:r>
            <a:endParaRPr lang="zh-CN" altLang="en-US" sz="1000"/>
          </a:p>
        </p:txBody>
      </p:sp>
      <p:cxnSp>
        <p:nvCxnSpPr>
          <p:cNvPr id="75" name="直接箭头连接符 74"/>
          <p:cNvCxnSpPr/>
          <p:nvPr/>
        </p:nvCxnSpPr>
        <p:spPr>
          <a:xfrm flipH="1" flipV="1">
            <a:off x="6210300" y="3632200"/>
            <a:ext cx="838200" cy="279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H="1" flipV="1">
            <a:off x="3602990" y="2082165"/>
            <a:ext cx="2175510" cy="3297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5905500" y="5403850"/>
            <a:ext cx="25971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000"/>
              <a:t>添加单个设备，设备属性包含设备</a:t>
            </a:r>
            <a:r>
              <a:rPr lang="en-US" altLang="zh-CN" sz="1000"/>
              <a:t>ID</a:t>
            </a:r>
            <a:r>
              <a:rPr lang="zh-CN" altLang="en-US" sz="1000"/>
              <a:t>（</a:t>
            </a:r>
            <a:r>
              <a:rPr lang="en-US" altLang="zh-CN" sz="1000"/>
              <a:t>1 to 99999</a:t>
            </a:r>
            <a:r>
              <a:rPr lang="zh-CN" altLang="en-US" sz="1000"/>
              <a:t>）、设备名称、</a:t>
            </a:r>
            <a:r>
              <a:rPr lang="en-US" altLang="zh-CN" sz="1000"/>
              <a:t>IP</a:t>
            </a:r>
            <a:r>
              <a:rPr lang="zh-CN" altLang="en-US" sz="1000"/>
              <a:t>地址，网口配置等，同时归属省、监狱、建筑、楼层、整体开关、各频段使能开关、发射功率、各频段每天工作时间段等，添加模式与第一节添加模式一样</a:t>
            </a:r>
            <a:endParaRPr lang="zh-CN" altLang="en-US" sz="1000"/>
          </a:p>
        </p:txBody>
      </p:sp>
      <p:grpSp>
        <p:nvGrpSpPr>
          <p:cNvPr id="64" name="组合 63"/>
          <p:cNvGrpSpPr/>
          <p:nvPr/>
        </p:nvGrpSpPr>
        <p:grpSpPr>
          <a:xfrm>
            <a:off x="4008755" y="3498215"/>
            <a:ext cx="843280" cy="474345"/>
            <a:chOff x="6230" y="7250"/>
            <a:chExt cx="1328" cy="747"/>
          </a:xfrm>
        </p:grpSpPr>
        <p:pic>
          <p:nvPicPr>
            <p:cNvPr id="65" name="图片 64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70" y="7250"/>
              <a:ext cx="361" cy="361"/>
            </a:xfrm>
            <a:prstGeom prst="rect">
              <a:avLst/>
            </a:prstGeom>
          </p:spPr>
        </p:pic>
        <p:pic>
          <p:nvPicPr>
            <p:cNvPr id="66" name="图片 65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24" y="7250"/>
              <a:ext cx="361" cy="361"/>
            </a:xfrm>
            <a:prstGeom prst="rect">
              <a:avLst/>
            </a:prstGeom>
          </p:spPr>
        </p:pic>
        <p:sp>
          <p:nvSpPr>
            <p:cNvPr id="67" name="文本框 66"/>
            <p:cNvSpPr txBox="1"/>
            <p:nvPr/>
          </p:nvSpPr>
          <p:spPr>
            <a:xfrm>
              <a:off x="6230" y="7611"/>
              <a:ext cx="132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1000"/>
                <a:t>全开</a:t>
              </a:r>
              <a:r>
                <a:rPr lang="en-US" altLang="zh-CN" sz="1000"/>
                <a:t>   </a:t>
              </a:r>
              <a:r>
                <a:rPr lang="zh-CN" altLang="en-US" sz="1000"/>
                <a:t>全关</a:t>
              </a:r>
              <a:endParaRPr lang="zh-CN" altLang="en-US" sz="100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180715" y="4614545"/>
            <a:ext cx="843280" cy="474345"/>
            <a:chOff x="6230" y="7250"/>
            <a:chExt cx="1328" cy="747"/>
          </a:xfrm>
        </p:grpSpPr>
        <p:pic>
          <p:nvPicPr>
            <p:cNvPr id="52" name="图片 51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70" y="7250"/>
              <a:ext cx="361" cy="361"/>
            </a:xfrm>
            <a:prstGeom prst="rect">
              <a:avLst/>
            </a:prstGeom>
          </p:spPr>
        </p:pic>
        <p:pic>
          <p:nvPicPr>
            <p:cNvPr id="54" name="图片 53" descr="方框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24" y="7250"/>
              <a:ext cx="361" cy="361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6230" y="7611"/>
              <a:ext cx="132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1000"/>
                <a:t>全开</a:t>
              </a:r>
              <a:r>
                <a:rPr lang="en-US" altLang="zh-CN" sz="1000"/>
                <a:t>   </a:t>
              </a:r>
              <a:r>
                <a:rPr lang="zh-CN" altLang="en-US" sz="1000"/>
                <a:t>全关</a:t>
              </a:r>
              <a:endParaRPr lang="zh-CN" altLang="en-US" sz="1000"/>
            </a:p>
          </p:txBody>
        </p:sp>
      </p:grpSp>
    </p:spTree>
    <p:custDataLst>
      <p:tags r:id="rId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1165" y="1439545"/>
            <a:ext cx="2531745" cy="5396230"/>
          </a:xfrm>
          <a:prstGeom prst="rect">
            <a:avLst/>
          </a:prstGeom>
          <a:solidFill>
            <a:schemeClr val="accent4">
              <a:lumMod val="75000"/>
              <a:alpha val="7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/>
          </a:p>
        </p:txBody>
      </p:sp>
      <p:sp>
        <p:nvSpPr>
          <p:cNvPr id="37" name="矩形 36"/>
          <p:cNvSpPr/>
          <p:nvPr/>
        </p:nvSpPr>
        <p:spPr>
          <a:xfrm>
            <a:off x="805180" y="170370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全国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>
            <a:stCxn id="37" idx="1"/>
          </p:cNvCxnSpPr>
          <p:nvPr/>
        </p:nvCxnSpPr>
        <p:spPr>
          <a:xfrm flipH="1">
            <a:off x="799465" y="1821815"/>
            <a:ext cx="5715" cy="12960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01370" y="213233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利雅得省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05180" y="249491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省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05180" y="285750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省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15" name="动作按钮: 前进或下一项 14"/>
          <p:cNvSpPr/>
          <p:nvPr/>
        </p:nvSpPr>
        <p:spPr>
          <a:xfrm>
            <a:off x="690880" y="217805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动作按钮: 前进或下一项 15"/>
          <p:cNvSpPr/>
          <p:nvPr/>
        </p:nvSpPr>
        <p:spPr>
          <a:xfrm>
            <a:off x="703580" y="2517775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动作按钮: 前进或下一项 21"/>
          <p:cNvSpPr/>
          <p:nvPr/>
        </p:nvSpPr>
        <p:spPr>
          <a:xfrm>
            <a:off x="703580" y="290703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926465" y="3168015"/>
            <a:ext cx="5715" cy="12960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932180" y="331152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26465" y="376428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32180" y="422783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监狱</a:t>
            </a:r>
            <a:r>
              <a:rPr lang="en-US" altLang="zh-CN" sz="900">
                <a:solidFill>
                  <a:schemeClr val="tx1"/>
                </a:solidFill>
              </a:rPr>
              <a:t>3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29" name="动作按钮: 前进或下一项 28"/>
          <p:cNvSpPr/>
          <p:nvPr/>
        </p:nvSpPr>
        <p:spPr>
          <a:xfrm>
            <a:off x="926465" y="3358515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动作按钮: 前进或下一项 29"/>
          <p:cNvSpPr/>
          <p:nvPr/>
        </p:nvSpPr>
        <p:spPr>
          <a:xfrm>
            <a:off x="872490" y="381762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动作按钮: 前进或下一项 30"/>
          <p:cNvSpPr/>
          <p:nvPr/>
        </p:nvSpPr>
        <p:spPr>
          <a:xfrm>
            <a:off x="872490" y="4265930"/>
            <a:ext cx="114300" cy="139700"/>
          </a:xfrm>
          <a:prstGeom prst="actionButtonForwardNext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1128395" y="4317365"/>
            <a:ext cx="3175" cy="63563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131570" y="473392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>
                <a:solidFill>
                  <a:schemeClr val="tx1"/>
                </a:solidFill>
              </a:rPr>
              <a:t>建筑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350010" y="5144135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楼层</a:t>
            </a:r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en-US" altLang="zh-CN" sz="900">
              <a:solidFill>
                <a:schemeClr val="tx1"/>
              </a:solidFill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1341755" y="4953635"/>
            <a:ext cx="2540" cy="450215"/>
          </a:xfrm>
          <a:prstGeom prst="line">
            <a:avLst/>
          </a:prstGeom>
          <a:ln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1341755" y="5506720"/>
            <a:ext cx="694690" cy="235585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900">
                <a:solidFill>
                  <a:schemeClr val="tx1"/>
                </a:solidFill>
              </a:rPr>
              <a:t>楼层</a:t>
            </a:r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296400" y="1510030"/>
            <a:ext cx="24053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/>
              <a:t>3. </a:t>
            </a:r>
            <a:r>
              <a:rPr lang="zh-CN" sz="1400"/>
              <a:t>单击某个监狱</a:t>
            </a:r>
            <a:endParaRPr lang="zh-CN" sz="1400"/>
          </a:p>
        </p:txBody>
      </p:sp>
      <p:grpSp>
        <p:nvGrpSpPr>
          <p:cNvPr id="51" name="组合 50"/>
          <p:cNvGrpSpPr/>
          <p:nvPr/>
        </p:nvGrpSpPr>
        <p:grpSpPr>
          <a:xfrm>
            <a:off x="3179445" y="1830705"/>
            <a:ext cx="5725160" cy="252095"/>
            <a:chOff x="5007" y="2883"/>
            <a:chExt cx="9016" cy="397"/>
          </a:xfrm>
        </p:grpSpPr>
        <p:sp>
          <p:nvSpPr>
            <p:cNvPr id="9" name="矩形 8"/>
            <p:cNvSpPr/>
            <p:nvPr/>
          </p:nvSpPr>
          <p:spPr>
            <a:xfrm>
              <a:off x="6285" y="2883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添加设备</a:t>
              </a:r>
              <a:endParaRPr lang="zh-CN" sz="1000"/>
            </a:p>
          </p:txBody>
        </p:sp>
        <p:sp>
          <p:nvSpPr>
            <p:cNvPr id="45" name="矩形 44"/>
            <p:cNvSpPr/>
            <p:nvPr/>
          </p:nvSpPr>
          <p:spPr>
            <a:xfrm>
              <a:off x="7563" y="2884"/>
              <a:ext cx="1303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批量添加</a:t>
              </a:r>
              <a:endParaRPr lang="zh-CN" sz="1000"/>
            </a:p>
          </p:txBody>
        </p:sp>
        <p:sp>
          <p:nvSpPr>
            <p:cNvPr id="46" name="矩形 45"/>
            <p:cNvSpPr/>
            <p:nvPr/>
          </p:nvSpPr>
          <p:spPr>
            <a:xfrm>
              <a:off x="8866" y="2883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修改</a:t>
              </a:r>
              <a:endParaRPr lang="zh-CN" sz="1000"/>
            </a:p>
          </p:txBody>
        </p:sp>
        <p:sp>
          <p:nvSpPr>
            <p:cNvPr id="47" name="矩形 46"/>
            <p:cNvSpPr/>
            <p:nvPr/>
          </p:nvSpPr>
          <p:spPr>
            <a:xfrm>
              <a:off x="10146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删除</a:t>
              </a:r>
              <a:endParaRPr lang="zh-CN" sz="1000"/>
            </a:p>
          </p:txBody>
        </p:sp>
        <p:sp>
          <p:nvSpPr>
            <p:cNvPr id="48" name="矩形 47"/>
            <p:cNvSpPr/>
            <p:nvPr/>
          </p:nvSpPr>
          <p:spPr>
            <a:xfrm>
              <a:off x="11447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管理</a:t>
              </a:r>
              <a:endParaRPr lang="zh-CN" sz="1000"/>
            </a:p>
          </p:txBody>
        </p:sp>
        <p:sp>
          <p:nvSpPr>
            <p:cNvPr id="49" name="矩形 48"/>
            <p:cNvSpPr/>
            <p:nvPr/>
          </p:nvSpPr>
          <p:spPr>
            <a:xfrm>
              <a:off x="5007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所有设备</a:t>
              </a:r>
              <a:endParaRPr lang="zh-CN" sz="1000"/>
            </a:p>
          </p:txBody>
        </p:sp>
        <p:sp>
          <p:nvSpPr>
            <p:cNvPr id="50" name="矩形 49"/>
            <p:cNvSpPr/>
            <p:nvPr/>
          </p:nvSpPr>
          <p:spPr>
            <a:xfrm>
              <a:off x="12745" y="2884"/>
              <a:ext cx="1278" cy="396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/>
                <a:t>查找</a:t>
              </a:r>
              <a:endParaRPr lang="zh-CN" sz="1000"/>
            </a:p>
          </p:txBody>
        </p:sp>
      </p:grpSp>
      <p:sp>
        <p:nvSpPr>
          <p:cNvPr id="53" name="矩形 52"/>
          <p:cNvSpPr/>
          <p:nvPr/>
        </p:nvSpPr>
        <p:spPr>
          <a:xfrm>
            <a:off x="3197225" y="2132330"/>
            <a:ext cx="811530" cy="444055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监狱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005580" y="2132330"/>
            <a:ext cx="811530" cy="2273300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建筑</a:t>
            </a:r>
            <a:r>
              <a:rPr lang="en-US" altLang="zh-CN" sz="1600">
                <a:solidFill>
                  <a:schemeClr val="tx1"/>
                </a:solidFill>
              </a:rPr>
              <a:t>1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05580" y="4405630"/>
            <a:ext cx="811530" cy="216725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建筑</a:t>
            </a:r>
            <a:r>
              <a:rPr lang="en-US" altLang="zh-CN" sz="1600">
                <a:solidFill>
                  <a:schemeClr val="tx1"/>
                </a:solidFill>
              </a:rPr>
              <a:t>2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817110" y="2132330"/>
            <a:ext cx="811530" cy="2273300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</a:rPr>
              <a:t>楼层</a:t>
            </a:r>
            <a:r>
              <a:rPr lang="en-US" altLang="zh-CN" sz="1400">
                <a:solidFill>
                  <a:schemeClr val="tx1"/>
                </a:solidFill>
              </a:rPr>
              <a:t>1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628640" y="2132330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>
                <a:solidFill>
                  <a:schemeClr val="tx1"/>
                </a:solidFill>
              </a:rPr>
              <a:t>设备编号，全网编号，开</a:t>
            </a:r>
            <a:r>
              <a:rPr lang="en-US" altLang="zh-CN" sz="1200">
                <a:solidFill>
                  <a:schemeClr val="tx1"/>
                </a:solidFill>
              </a:rPr>
              <a:t>/</a:t>
            </a:r>
            <a:r>
              <a:rPr lang="zh-CN" altLang="en-US" sz="1200">
                <a:solidFill>
                  <a:schemeClr val="tx1"/>
                </a:solidFill>
              </a:rPr>
              <a:t>关，功率配置，频段设置，工作时间设置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40" name="图片 39" descr="勾选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678795" y="2132330"/>
            <a:ext cx="273050" cy="273050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5628640" y="2539365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>
                <a:solidFill>
                  <a:schemeClr val="tx1"/>
                </a:solidFill>
              </a:rPr>
              <a:t>2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S</a:t>
            </a:r>
            <a:r>
              <a:rPr lang="en-US" altLang="zh-CN" sz="1200">
                <a:solidFill>
                  <a:schemeClr val="tx1"/>
                </a:solidFill>
              </a:rPr>
              <a:t>11001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sz="1200">
                <a:solidFill>
                  <a:schemeClr val="tx1"/>
                </a:solidFill>
              </a:rPr>
              <a:t>On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20W</a:t>
            </a:r>
            <a:r>
              <a:rPr lang="zh-CN" altLang="en-US" sz="1200">
                <a:solidFill>
                  <a:schemeClr val="tx1"/>
                </a:solidFill>
              </a:rPr>
              <a:t>，全频段，</a:t>
            </a:r>
            <a:r>
              <a:rPr lang="en-US" altLang="zh-CN" sz="1200">
                <a:solidFill>
                  <a:schemeClr val="tx1"/>
                </a:solidFill>
              </a:rPr>
              <a:t>8:00-20:00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43" name="图片 42" descr="方框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678795" y="2539365"/>
            <a:ext cx="229235" cy="229235"/>
          </a:xfrm>
          <a:prstGeom prst="rect">
            <a:avLst/>
          </a:prstGeom>
        </p:spPr>
      </p:pic>
      <p:sp>
        <p:nvSpPr>
          <p:cNvPr id="69" name="矩形 68"/>
          <p:cNvSpPr/>
          <p:nvPr/>
        </p:nvSpPr>
        <p:spPr>
          <a:xfrm>
            <a:off x="5647690" y="2993390"/>
            <a:ext cx="4881880" cy="318135"/>
          </a:xfrm>
          <a:prstGeom prst="rect">
            <a:avLst/>
          </a:prstGeom>
          <a:solidFill>
            <a:schemeClr val="accent3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>
                <a:solidFill>
                  <a:schemeClr val="tx1"/>
                </a:solidFill>
              </a:rPr>
              <a:t>3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S</a:t>
            </a:r>
            <a:r>
              <a:rPr lang="en-US" altLang="zh-CN" sz="1200">
                <a:solidFill>
                  <a:schemeClr val="tx1"/>
                </a:solidFill>
              </a:rPr>
              <a:t>11002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sz="1200">
                <a:solidFill>
                  <a:schemeClr val="tx1"/>
                </a:solidFill>
              </a:rPr>
              <a:t>off</a:t>
            </a:r>
            <a:r>
              <a:rPr lang="zh-CN" altLang="en-US" sz="1200">
                <a:solidFill>
                  <a:schemeClr val="tx1"/>
                </a:solidFill>
              </a:rPr>
              <a:t>，</a:t>
            </a:r>
            <a:r>
              <a:rPr lang="en-US" altLang="zh-CN" sz="1200">
                <a:solidFill>
                  <a:schemeClr val="tx1"/>
                </a:solidFill>
              </a:rPr>
              <a:t>18</a:t>
            </a:r>
            <a:r>
              <a:rPr lang="en-US" altLang="zh-CN" sz="1200">
                <a:solidFill>
                  <a:schemeClr val="tx1"/>
                </a:solidFill>
              </a:rPr>
              <a:t>W</a:t>
            </a:r>
            <a:r>
              <a:rPr lang="zh-CN" altLang="en-US" sz="1200">
                <a:solidFill>
                  <a:schemeClr val="tx1"/>
                </a:solidFill>
              </a:rPr>
              <a:t>，部分频段，</a:t>
            </a:r>
            <a:r>
              <a:rPr lang="en-US" altLang="zh-CN" sz="1200">
                <a:solidFill>
                  <a:schemeClr val="tx1"/>
                </a:solidFill>
              </a:rPr>
              <a:t>8:00-20:00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8502650" y="3674745"/>
            <a:ext cx="19202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可以通过勾选单个或者多个框选择单个或者多个设备，然后单击修改，可以进行批量修改，选择删除，可以进行单个或者批量删除。选择管理，可以进行单个或者批量管理，比如全关，全开，功率批量调节，工作时长等</a:t>
            </a:r>
            <a:endParaRPr lang="zh-CN" sz="1000"/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10217150" y="3314700"/>
            <a:ext cx="450850" cy="292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648960" y="3446145"/>
            <a:ext cx="438150" cy="318135"/>
          </a:xfrm>
          <a:prstGeom prst="rect">
            <a:avLst/>
          </a:prstGeom>
          <a:solidFill>
            <a:schemeClr val="accent4">
              <a:lumMod val="75000"/>
              <a:alpha val="3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+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778500" y="3999865"/>
            <a:ext cx="19202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1000"/>
              <a:t>可以单击</a:t>
            </a:r>
            <a:r>
              <a:rPr lang="en-US" altLang="zh-CN" sz="1000"/>
              <a:t>+</a:t>
            </a:r>
            <a:r>
              <a:rPr lang="zh-CN" altLang="en-US" sz="1000"/>
              <a:t>，</a:t>
            </a:r>
            <a:r>
              <a:rPr lang="en-US" altLang="zh-CN" sz="1000"/>
              <a:t> </a:t>
            </a:r>
            <a:r>
              <a:rPr lang="zh-CN" altLang="en-US" sz="1000"/>
              <a:t>或者上述添加设备按钮，进行设备添加。如果是在本楼层下面添加的，则弹出对话框无需选择省，监狱，建筑和楼层，自动默认在这个楼层下的路径。</a:t>
            </a:r>
            <a:endParaRPr lang="zh-CN" altLang="en-US" sz="1000"/>
          </a:p>
        </p:txBody>
      </p:sp>
      <p:cxnSp>
        <p:nvCxnSpPr>
          <p:cNvPr id="75" name="直接箭头连接符 74"/>
          <p:cNvCxnSpPr/>
          <p:nvPr/>
        </p:nvCxnSpPr>
        <p:spPr>
          <a:xfrm flipH="1" flipV="1">
            <a:off x="6210300" y="3632200"/>
            <a:ext cx="838200" cy="279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H="1" flipV="1">
            <a:off x="3602990" y="2082165"/>
            <a:ext cx="2175510" cy="3297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5905500" y="5403850"/>
            <a:ext cx="25971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000"/>
              <a:t>添加单个设备，设备属性包含设备</a:t>
            </a:r>
            <a:r>
              <a:rPr lang="en-US" altLang="zh-CN" sz="1000"/>
              <a:t>ID</a:t>
            </a:r>
            <a:r>
              <a:rPr lang="zh-CN" altLang="en-US" sz="1000"/>
              <a:t>（</a:t>
            </a:r>
            <a:r>
              <a:rPr lang="en-US" altLang="zh-CN" sz="1000"/>
              <a:t>1 to 99999</a:t>
            </a:r>
            <a:r>
              <a:rPr lang="zh-CN" altLang="en-US" sz="1000"/>
              <a:t>）、设备名称、</a:t>
            </a:r>
            <a:r>
              <a:rPr lang="en-US" altLang="zh-CN" sz="1000"/>
              <a:t>IP</a:t>
            </a:r>
            <a:r>
              <a:rPr lang="zh-CN" altLang="en-US" sz="1000"/>
              <a:t>地址，网口配置等，同时归属省、监狱、建筑、楼层、整体开关、各频段使能开关、发射功率、各频段每天工作时间段等，添加模式与第一节添加模式一样</a:t>
            </a:r>
            <a:endParaRPr lang="zh-CN" altLang="en-US" sz="1000"/>
          </a:p>
        </p:txBody>
      </p:sp>
      <p:pic>
        <p:nvPicPr>
          <p:cNvPr id="42" name="图片 41" descr="方框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805795" y="2666365"/>
            <a:ext cx="229235" cy="22923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52" name="图片 51" descr="方框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805795" y="3046730"/>
            <a:ext cx="229235" cy="22923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grpSp>
        <p:nvGrpSpPr>
          <p:cNvPr id="64" name="组合 63"/>
          <p:cNvGrpSpPr/>
          <p:nvPr/>
        </p:nvGrpSpPr>
        <p:grpSpPr>
          <a:xfrm>
            <a:off x="3973830" y="5742305"/>
            <a:ext cx="843280" cy="474345"/>
            <a:chOff x="6230" y="7250"/>
            <a:chExt cx="1328" cy="747"/>
          </a:xfrm>
        </p:grpSpPr>
        <p:pic>
          <p:nvPicPr>
            <p:cNvPr id="65" name="图片 64" descr="方框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70" y="7250"/>
              <a:ext cx="361" cy="361"/>
            </a:xfrm>
            <a:prstGeom prst="rect">
              <a:avLst/>
            </a:prstGeom>
          </p:spPr>
        </p:pic>
        <p:pic>
          <p:nvPicPr>
            <p:cNvPr id="66" name="图片 65" descr="方框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24" y="7250"/>
              <a:ext cx="361" cy="361"/>
            </a:xfrm>
            <a:prstGeom prst="rect">
              <a:avLst/>
            </a:prstGeom>
          </p:spPr>
        </p:pic>
        <p:sp>
          <p:nvSpPr>
            <p:cNvPr id="67" name="文本框 66"/>
            <p:cNvSpPr txBox="1"/>
            <p:nvPr/>
          </p:nvSpPr>
          <p:spPr>
            <a:xfrm>
              <a:off x="6230" y="7611"/>
              <a:ext cx="132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1000"/>
                <a:t>全开</a:t>
              </a:r>
              <a:r>
                <a:rPr lang="en-US" altLang="zh-CN" sz="1000"/>
                <a:t>   </a:t>
              </a:r>
              <a:r>
                <a:rPr lang="zh-CN" altLang="en-US" sz="1000"/>
                <a:t>全关</a:t>
              </a:r>
              <a:endParaRPr lang="zh-CN" altLang="en-US" sz="100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197225" y="4614545"/>
            <a:ext cx="843280" cy="474345"/>
            <a:chOff x="6230" y="7250"/>
            <a:chExt cx="1328" cy="747"/>
          </a:xfrm>
        </p:grpSpPr>
        <p:pic>
          <p:nvPicPr>
            <p:cNvPr id="55" name="图片 54" descr="方框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70" y="7250"/>
              <a:ext cx="361" cy="361"/>
            </a:xfrm>
            <a:prstGeom prst="rect">
              <a:avLst/>
            </a:prstGeom>
          </p:spPr>
        </p:pic>
        <p:pic>
          <p:nvPicPr>
            <p:cNvPr id="56" name="图片 55" descr="方框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24" y="7250"/>
              <a:ext cx="361" cy="361"/>
            </a:xfrm>
            <a:prstGeom prst="rect">
              <a:avLst/>
            </a:prstGeom>
          </p:spPr>
        </p:pic>
        <p:sp>
          <p:nvSpPr>
            <p:cNvPr id="58" name="文本框 57"/>
            <p:cNvSpPr txBox="1"/>
            <p:nvPr/>
          </p:nvSpPr>
          <p:spPr>
            <a:xfrm>
              <a:off x="6230" y="7611"/>
              <a:ext cx="132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1000"/>
                <a:t>全开</a:t>
              </a:r>
              <a:r>
                <a:rPr lang="en-US" altLang="zh-CN" sz="1000"/>
                <a:t>   </a:t>
              </a:r>
              <a:r>
                <a:rPr lang="zh-CN" altLang="en-US" sz="1000"/>
                <a:t>全关</a:t>
              </a:r>
              <a:endParaRPr lang="zh-CN" altLang="en-US" sz="1000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4008755" y="3547110"/>
            <a:ext cx="843280" cy="474345"/>
            <a:chOff x="6230" y="7250"/>
            <a:chExt cx="1328" cy="747"/>
          </a:xfrm>
        </p:grpSpPr>
        <p:pic>
          <p:nvPicPr>
            <p:cNvPr id="60" name="图片 59" descr="方框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70" y="7250"/>
              <a:ext cx="361" cy="361"/>
            </a:xfrm>
            <a:prstGeom prst="rect">
              <a:avLst/>
            </a:prstGeom>
          </p:spPr>
        </p:pic>
        <p:pic>
          <p:nvPicPr>
            <p:cNvPr id="61" name="图片 60" descr="方框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24" y="7250"/>
              <a:ext cx="361" cy="361"/>
            </a:xfrm>
            <a:prstGeom prst="rect">
              <a:avLst/>
            </a:prstGeom>
          </p:spPr>
        </p:pic>
        <p:sp>
          <p:nvSpPr>
            <p:cNvPr id="62" name="文本框 61"/>
            <p:cNvSpPr txBox="1"/>
            <p:nvPr/>
          </p:nvSpPr>
          <p:spPr>
            <a:xfrm>
              <a:off x="6230" y="7611"/>
              <a:ext cx="132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1000"/>
                <a:t>全开</a:t>
              </a:r>
              <a:r>
                <a:rPr lang="en-US" altLang="zh-CN" sz="1000"/>
                <a:t>   </a:t>
              </a:r>
              <a:r>
                <a:rPr lang="zh-CN" altLang="en-US" sz="1000"/>
                <a:t>全关</a:t>
              </a:r>
              <a:endParaRPr lang="zh-CN" altLang="en-US" sz="1000"/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817110" y="3547110"/>
            <a:ext cx="843280" cy="474345"/>
            <a:chOff x="6230" y="7250"/>
            <a:chExt cx="1328" cy="747"/>
          </a:xfrm>
        </p:grpSpPr>
        <p:pic>
          <p:nvPicPr>
            <p:cNvPr id="68" name="图片 67" descr="方框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70" y="7250"/>
              <a:ext cx="361" cy="361"/>
            </a:xfrm>
            <a:prstGeom prst="rect">
              <a:avLst/>
            </a:prstGeom>
          </p:spPr>
        </p:pic>
        <p:pic>
          <p:nvPicPr>
            <p:cNvPr id="70" name="图片 69" descr="方框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24" y="7250"/>
              <a:ext cx="361" cy="361"/>
            </a:xfrm>
            <a:prstGeom prst="rect">
              <a:avLst/>
            </a:prstGeom>
          </p:spPr>
        </p:pic>
        <p:sp>
          <p:nvSpPr>
            <p:cNvPr id="78" name="文本框 77"/>
            <p:cNvSpPr txBox="1"/>
            <p:nvPr/>
          </p:nvSpPr>
          <p:spPr>
            <a:xfrm>
              <a:off x="6230" y="7611"/>
              <a:ext cx="132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sz="1000"/>
                <a:t>全开</a:t>
              </a:r>
              <a:r>
                <a:rPr lang="en-US" altLang="zh-CN" sz="1000"/>
                <a:t>   </a:t>
              </a:r>
              <a:r>
                <a:rPr lang="zh-CN" altLang="en-US" sz="1000"/>
                <a:t>全关</a:t>
              </a:r>
              <a:endParaRPr lang="zh-CN" altLang="en-US" sz="1000"/>
            </a:p>
          </p:txBody>
        </p:sp>
      </p:grpSp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第四部分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4800"/>
              <a:t>告警</a:t>
            </a:r>
            <a:endParaRPr lang="zh-CN" altLang="en-US" sz="4800"/>
          </a:p>
        </p:txBody>
      </p:sp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580880" y="168910"/>
            <a:ext cx="2134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/>
        </p:nvPicPr>
        <p:blipFill>
          <a:blip r:embed="rId1"/>
          <a:srcRect t="18885"/>
          <a:stretch>
            <a:fillRect/>
          </a:stretch>
        </p:blipFill>
        <p:spPr>
          <a:xfrm>
            <a:off x="2934970" y="110490"/>
            <a:ext cx="8003540" cy="32156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6615" y="3603625"/>
            <a:ext cx="10495280" cy="3169285"/>
          </a:xfrm>
          <a:prstGeom prst="rect">
            <a:avLst/>
          </a:prstGeom>
        </p:spPr>
        <p:txBody>
          <a:bodyPr wrap="square">
            <a:spAutoFit/>
          </a:bodyPr>
          <a:p>
            <a:pPr marL="539750" indent="-269875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lphaUcPeriod"/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当前告警日志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: </a:t>
            </a:r>
            <a:endParaRPr lang="en-US" altLang="zh-CN" sz="10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包含告警监狱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/</a:t>
            </a: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告警设备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ID/</a:t>
            </a: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告警设备名称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/</a:t>
            </a: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告警内容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/</a:t>
            </a: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告警发生时间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/</a:t>
            </a: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排查建议，告警内容包括不限于</a:t>
            </a:r>
            <a:r>
              <a:rPr lang="zh-CN" altLang="en-US" sz="1000">
                <a:solidFill>
                  <a:srgbClr val="0000FF"/>
                </a:solidFill>
                <a:highlight>
                  <a:srgbClr val="00FFFF"/>
                </a:highlight>
                <a:latin typeface="Calibri" panose="020F0502020204030204"/>
                <a:ea typeface="宋体" panose="02010600030101010101" pitchFamily="2" charset="-122"/>
              </a:rPr>
              <a:t>温度告警、</a:t>
            </a:r>
            <a:r>
              <a:rPr lang="en-US" altLang="zh-CN" sz="1000">
                <a:solidFill>
                  <a:srgbClr val="0000FF"/>
                </a:solidFill>
                <a:highlight>
                  <a:srgbClr val="00FFFF"/>
                </a:highlight>
                <a:latin typeface="Calibri" panose="020F0502020204030204"/>
                <a:ea typeface="Calibri" panose="020F0502020204030204"/>
              </a:rPr>
              <a:t>VSWR</a:t>
            </a:r>
            <a:r>
              <a:rPr lang="zh-CN" altLang="en-US" sz="1000">
                <a:solidFill>
                  <a:srgbClr val="0000FF"/>
                </a:solidFill>
                <a:highlight>
                  <a:srgbClr val="00FFFF"/>
                </a:highlight>
                <a:latin typeface="Calibri" panose="020F0502020204030204"/>
                <a:ea typeface="宋体" panose="02010600030101010101" pitchFamily="2" charset="-122"/>
              </a:rPr>
              <a:t>、告警频段、电源故障、放大器故障、连接断开等，定位建议。</a:t>
            </a:r>
            <a:endParaRPr lang="zh-CN" altLang="en-US" sz="1000">
              <a:solidFill>
                <a:srgbClr val="0000FF"/>
              </a:solidFill>
              <a:highlight>
                <a:srgbClr val="00FFFF"/>
              </a:highlight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000">
              <a:latin typeface="Calibri" panose="020F0502020204030204"/>
              <a:ea typeface="宋体" panose="02010600030101010101" pitchFamily="2" charset="-122"/>
            </a:endParaRPr>
          </a:p>
          <a:p>
            <a:pPr marL="539750" indent="-269875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lphaUcPeriod"/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历史告警日志：</a:t>
            </a:r>
            <a:endParaRPr lang="zh-CN" altLang="en-US" sz="10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包含告警监狱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/</a:t>
            </a: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告警设备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ID/</a:t>
            </a: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告警设备名称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/</a:t>
            </a: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告警内容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/</a:t>
            </a: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告警时间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/</a:t>
            </a: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解决时间，告警内容包括不限于</a:t>
            </a:r>
            <a:r>
              <a:rPr lang="zh-CN" altLang="en-US" sz="1000">
                <a:solidFill>
                  <a:srgbClr val="0000FF"/>
                </a:solidFill>
                <a:latin typeface="Calibri" panose="020F0502020204030204"/>
                <a:ea typeface="宋体" panose="02010600030101010101" pitchFamily="2" charset="-122"/>
              </a:rPr>
              <a:t>温度告警、</a:t>
            </a:r>
            <a:r>
              <a:rPr lang="en-US" altLang="zh-CN" sz="1000">
                <a:solidFill>
                  <a:srgbClr val="0000FF"/>
                </a:solidFill>
                <a:latin typeface="Calibri" panose="020F0502020204030204"/>
                <a:ea typeface="Calibri" panose="020F0502020204030204"/>
              </a:rPr>
              <a:t>VSWR</a:t>
            </a:r>
            <a:r>
              <a:rPr lang="zh-CN" altLang="en-US" sz="1000">
                <a:solidFill>
                  <a:srgbClr val="0000FF"/>
                </a:solidFill>
                <a:latin typeface="Calibri" panose="020F0502020204030204"/>
                <a:ea typeface="宋体" panose="02010600030101010101" pitchFamily="2" charset="-122"/>
              </a:rPr>
              <a:t>、告警频段、电源故障、主板故障、放大器故障、连接断开等。</a:t>
            </a:r>
            <a:endParaRPr lang="zh-CN" altLang="en-US" sz="1000">
              <a:solidFill>
                <a:srgbClr val="0000FF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000">
              <a:latin typeface="Calibri" panose="020F0502020204030204"/>
              <a:ea typeface="宋体" panose="02010600030101010101" pitchFamily="2" charset="-122"/>
            </a:endParaRPr>
          </a:p>
          <a:p>
            <a:pPr marL="539750" indent="-269875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lphaUcPeriod"/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告警清除：</a:t>
            </a:r>
            <a:endParaRPr lang="zh-CN" altLang="en-US" sz="10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当前告警可以操作手动清除，进入到历史告警。如果设备还有故障，生成新的告警</a:t>
            </a:r>
            <a:endParaRPr lang="zh-CN" altLang="en-US" sz="10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000">
              <a:latin typeface="Calibri" panose="020F0502020204030204"/>
              <a:ea typeface="宋体" panose="02010600030101010101" pitchFamily="2" charset="-122"/>
            </a:endParaRPr>
          </a:p>
          <a:p>
            <a:pPr marL="539750" indent="-269875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lphaUcPeriod"/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告警屏蔽：</a:t>
            </a:r>
            <a:endParaRPr lang="zh-CN" altLang="en-US" sz="10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可对不希望显示的告警内容进行屏蔽，屏蔽后告警不显示。</a:t>
            </a:r>
            <a:endParaRPr lang="zh-CN" altLang="en-US" sz="10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000">
              <a:latin typeface="Calibri" panose="020F0502020204030204"/>
              <a:ea typeface="宋体" panose="02010600030101010101" pitchFamily="2" charset="-122"/>
            </a:endParaRPr>
          </a:p>
          <a:p>
            <a:pPr marL="539750" indent="-269875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lphaUcPeriod"/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告警查询：</a:t>
            </a:r>
            <a:endParaRPr lang="zh-CN" altLang="en-US" sz="10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可以根据时间，设备名称，告警类型，搜索当前告警和历史告警。</a:t>
            </a:r>
            <a:endParaRPr lang="zh-CN" altLang="en-US" sz="10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000">
              <a:latin typeface="Calibri" panose="020F0502020204030204"/>
              <a:ea typeface="宋体" panose="02010600030101010101" pitchFamily="2" charset="-122"/>
            </a:endParaRPr>
          </a:p>
          <a:p>
            <a:pPr marL="539750" indent="-269875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lphaUcPeriod"/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告警导出</a:t>
            </a:r>
            <a:endParaRPr lang="zh-CN" altLang="en-US" sz="10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可以把查询到的告警，导出为</a:t>
            </a:r>
            <a:r>
              <a:rPr lang="en-US" altLang="zh-CN" sz="1000">
                <a:latin typeface="Calibri" panose="020F0502020204030204"/>
                <a:ea typeface="Calibri" panose="020F0502020204030204"/>
              </a:rPr>
              <a:t>Excel</a:t>
            </a: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格式文档。</a:t>
            </a:r>
            <a:endParaRPr lang="zh-CN" altLang="en-US" sz="10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000">
              <a:latin typeface="Calibri" panose="020F0502020204030204"/>
              <a:ea typeface="宋体" panose="02010600030101010101" pitchFamily="2" charset="-122"/>
            </a:endParaRPr>
          </a:p>
          <a:p>
            <a:pPr marL="539750" indent="-269875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lphaUcPeriod"/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跳转到设备监控位置</a:t>
            </a:r>
            <a:endParaRPr lang="zh-CN" altLang="en-US" sz="10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latin typeface="Calibri" panose="020F0502020204030204"/>
                <a:ea typeface="宋体" panose="02010600030101010101" pitchFamily="2" charset="-122"/>
              </a:rPr>
              <a:t>单机某个当前告警，可以调整到平面视图，直观显示设备告警。</a:t>
            </a:r>
            <a:endParaRPr lang="zh-CN" altLang="en-US" sz="1000"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91795" y="930910"/>
            <a:ext cx="2142490" cy="1841500"/>
            <a:chOff x="679" y="2267"/>
            <a:chExt cx="8235" cy="8498"/>
          </a:xfrm>
        </p:grpSpPr>
        <p:sp>
          <p:nvSpPr>
            <p:cNvPr id="3" name="矩形 2"/>
            <p:cNvSpPr/>
            <p:nvPr/>
          </p:nvSpPr>
          <p:spPr>
            <a:xfrm>
              <a:off x="679" y="2267"/>
              <a:ext cx="3987" cy="8498"/>
            </a:xfrm>
            <a:prstGeom prst="rect">
              <a:avLst/>
            </a:prstGeom>
            <a:solidFill>
              <a:schemeClr val="accent4">
                <a:lumMod val="75000"/>
                <a:alpha val="76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sz="800"/>
            </a:p>
          </p:txBody>
        </p:sp>
        <p:sp>
          <p:nvSpPr>
            <p:cNvPr id="37" name="矩形 36"/>
            <p:cNvSpPr/>
            <p:nvPr/>
          </p:nvSpPr>
          <p:spPr>
            <a:xfrm>
              <a:off x="1268" y="2683"/>
              <a:ext cx="1094" cy="37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500">
                  <a:solidFill>
                    <a:schemeClr val="tx1"/>
                  </a:solidFill>
                </a:rPr>
                <a:t>全国</a:t>
              </a:r>
              <a:endParaRPr lang="zh-CN" altLang="en-US" sz="500">
                <a:solidFill>
                  <a:schemeClr val="tx1"/>
                </a:solidFill>
              </a:endParaRPr>
            </a:p>
          </p:txBody>
        </p:sp>
        <p:cxnSp>
          <p:nvCxnSpPr>
            <p:cNvPr id="10" name="直接连接符 9"/>
            <p:cNvCxnSpPr>
              <a:stCxn id="37" idx="1"/>
            </p:cNvCxnSpPr>
            <p:nvPr/>
          </p:nvCxnSpPr>
          <p:spPr>
            <a:xfrm flipH="1">
              <a:off x="1259" y="2869"/>
              <a:ext cx="9" cy="2041"/>
            </a:xfrm>
            <a:prstGeom prst="line">
              <a:avLst/>
            </a:prstGeom>
            <a:ln>
              <a:solidFill>
                <a:srgbClr val="FAFAF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1262" y="3358"/>
              <a:ext cx="1094" cy="37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300">
                  <a:solidFill>
                    <a:schemeClr val="tx1"/>
                  </a:solidFill>
                </a:rPr>
                <a:t>利雅得省</a:t>
              </a:r>
              <a:endParaRPr lang="zh-CN" altLang="en-US" sz="30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268" y="3929"/>
              <a:ext cx="1094" cy="37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300">
                  <a:solidFill>
                    <a:schemeClr val="tx1"/>
                  </a:solidFill>
                </a:rPr>
                <a:t>省</a:t>
              </a:r>
              <a:r>
                <a:rPr lang="en-US" altLang="zh-CN" sz="300">
                  <a:solidFill>
                    <a:schemeClr val="tx1"/>
                  </a:solidFill>
                </a:rPr>
                <a:t>1</a:t>
              </a:r>
              <a:endParaRPr lang="en-US" altLang="zh-CN" sz="300">
                <a:solidFill>
                  <a:schemeClr val="tx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268" y="4500"/>
              <a:ext cx="1094" cy="37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300">
                  <a:solidFill>
                    <a:schemeClr val="tx1"/>
                  </a:solidFill>
                </a:rPr>
                <a:t>省</a:t>
              </a:r>
              <a:r>
                <a:rPr lang="en-US" altLang="zh-CN" sz="300">
                  <a:solidFill>
                    <a:schemeClr val="tx1"/>
                  </a:solidFill>
                </a:rPr>
                <a:t>2</a:t>
              </a:r>
              <a:endParaRPr lang="en-US" altLang="zh-CN" sz="300">
                <a:solidFill>
                  <a:schemeClr val="tx1"/>
                </a:solidFill>
              </a:endParaRPr>
            </a:p>
          </p:txBody>
        </p:sp>
        <p:sp>
          <p:nvSpPr>
            <p:cNvPr id="15" name="动作按钮: 前进或下一项 14"/>
            <p:cNvSpPr/>
            <p:nvPr/>
          </p:nvSpPr>
          <p:spPr>
            <a:xfrm>
              <a:off x="1088" y="3430"/>
              <a:ext cx="180" cy="220"/>
            </a:xfrm>
            <a:prstGeom prst="actionButtonForwardNext">
              <a:avLst/>
            </a:prstGeom>
            <a:ln>
              <a:solidFill>
                <a:srgbClr val="FAFAF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800"/>
            </a:p>
          </p:txBody>
        </p:sp>
        <p:sp>
          <p:nvSpPr>
            <p:cNvPr id="16" name="动作按钮: 前进或下一项 15"/>
            <p:cNvSpPr/>
            <p:nvPr/>
          </p:nvSpPr>
          <p:spPr>
            <a:xfrm>
              <a:off x="1108" y="3965"/>
              <a:ext cx="180" cy="220"/>
            </a:xfrm>
            <a:prstGeom prst="actionButtonForwardNext">
              <a:avLst/>
            </a:prstGeom>
            <a:ln>
              <a:solidFill>
                <a:srgbClr val="FAFAF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800"/>
            </a:p>
          </p:txBody>
        </p:sp>
        <p:sp>
          <p:nvSpPr>
            <p:cNvPr id="22" name="动作按钮: 前进或下一项 21"/>
            <p:cNvSpPr/>
            <p:nvPr/>
          </p:nvSpPr>
          <p:spPr>
            <a:xfrm>
              <a:off x="1108" y="4578"/>
              <a:ext cx="180" cy="220"/>
            </a:xfrm>
            <a:prstGeom prst="actionButtonForwardNext">
              <a:avLst/>
            </a:prstGeom>
            <a:ln>
              <a:solidFill>
                <a:srgbClr val="FAFAF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800"/>
            </a:p>
          </p:txBody>
        </p:sp>
        <p:cxnSp>
          <p:nvCxnSpPr>
            <p:cNvPr id="25" name="直接连接符 24"/>
            <p:cNvCxnSpPr/>
            <p:nvPr/>
          </p:nvCxnSpPr>
          <p:spPr>
            <a:xfrm flipH="1">
              <a:off x="1459" y="4989"/>
              <a:ext cx="9" cy="2041"/>
            </a:xfrm>
            <a:prstGeom prst="line">
              <a:avLst/>
            </a:prstGeom>
            <a:ln>
              <a:solidFill>
                <a:srgbClr val="FAFAF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/>
          </p:nvSpPr>
          <p:spPr>
            <a:xfrm>
              <a:off x="1468" y="5215"/>
              <a:ext cx="1094" cy="37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300">
                  <a:solidFill>
                    <a:schemeClr val="tx1"/>
                  </a:solidFill>
                </a:rPr>
                <a:t>监狱</a:t>
              </a:r>
              <a:r>
                <a:rPr lang="en-US" altLang="zh-CN" sz="300">
                  <a:solidFill>
                    <a:schemeClr val="tx1"/>
                  </a:solidFill>
                </a:rPr>
                <a:t>1</a:t>
              </a:r>
              <a:endParaRPr lang="en-US" altLang="zh-CN" sz="300">
                <a:solidFill>
                  <a:schemeClr val="tx1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59" y="5928"/>
              <a:ext cx="1094" cy="37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300">
                  <a:solidFill>
                    <a:schemeClr val="tx1"/>
                  </a:solidFill>
                </a:rPr>
                <a:t>监狱</a:t>
              </a:r>
              <a:r>
                <a:rPr lang="en-US" altLang="zh-CN" sz="300">
                  <a:solidFill>
                    <a:schemeClr val="tx1"/>
                  </a:solidFill>
                </a:rPr>
                <a:t>2</a:t>
              </a:r>
              <a:endParaRPr lang="en-US" altLang="zh-CN" sz="300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468" y="6658"/>
              <a:ext cx="1094" cy="37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300">
                  <a:solidFill>
                    <a:schemeClr val="tx1"/>
                  </a:solidFill>
                </a:rPr>
                <a:t>监狱</a:t>
              </a:r>
              <a:r>
                <a:rPr lang="en-US" altLang="zh-CN" sz="300">
                  <a:solidFill>
                    <a:schemeClr val="tx1"/>
                  </a:solidFill>
                </a:rPr>
                <a:t>3</a:t>
              </a:r>
              <a:endParaRPr lang="en-US" altLang="zh-CN" sz="300">
                <a:solidFill>
                  <a:schemeClr val="tx1"/>
                </a:solidFill>
              </a:endParaRPr>
            </a:p>
          </p:txBody>
        </p:sp>
        <p:sp>
          <p:nvSpPr>
            <p:cNvPr id="29" name="动作按钮: 前进或下一项 28"/>
            <p:cNvSpPr/>
            <p:nvPr/>
          </p:nvSpPr>
          <p:spPr>
            <a:xfrm>
              <a:off x="1459" y="5289"/>
              <a:ext cx="180" cy="220"/>
            </a:xfrm>
            <a:prstGeom prst="actionButtonForwardNext">
              <a:avLst/>
            </a:prstGeom>
            <a:ln>
              <a:solidFill>
                <a:srgbClr val="FAFAF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800"/>
            </a:p>
          </p:txBody>
        </p:sp>
        <p:sp>
          <p:nvSpPr>
            <p:cNvPr id="30" name="动作按钮: 前进或下一项 29"/>
            <p:cNvSpPr/>
            <p:nvPr/>
          </p:nvSpPr>
          <p:spPr>
            <a:xfrm>
              <a:off x="1374" y="6012"/>
              <a:ext cx="180" cy="220"/>
            </a:xfrm>
            <a:prstGeom prst="actionButtonForwardNext">
              <a:avLst/>
            </a:prstGeom>
            <a:ln>
              <a:solidFill>
                <a:srgbClr val="FAFAF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800"/>
            </a:p>
          </p:txBody>
        </p:sp>
        <p:sp>
          <p:nvSpPr>
            <p:cNvPr id="31" name="动作按钮: 前进或下一项 30"/>
            <p:cNvSpPr/>
            <p:nvPr/>
          </p:nvSpPr>
          <p:spPr>
            <a:xfrm>
              <a:off x="1374" y="6718"/>
              <a:ext cx="180" cy="220"/>
            </a:xfrm>
            <a:prstGeom prst="actionButtonForwardNext">
              <a:avLst/>
            </a:prstGeom>
            <a:ln>
              <a:solidFill>
                <a:srgbClr val="FAFAF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800"/>
            </a:p>
          </p:txBody>
        </p:sp>
        <p:cxnSp>
          <p:nvCxnSpPr>
            <p:cNvPr id="32" name="直接连接符 31"/>
            <p:cNvCxnSpPr/>
            <p:nvPr/>
          </p:nvCxnSpPr>
          <p:spPr>
            <a:xfrm flipH="1">
              <a:off x="1777" y="6799"/>
              <a:ext cx="5" cy="1001"/>
            </a:xfrm>
            <a:prstGeom prst="line">
              <a:avLst/>
            </a:prstGeom>
            <a:ln>
              <a:solidFill>
                <a:srgbClr val="FAFAF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1782" y="7455"/>
              <a:ext cx="1094" cy="37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300">
                  <a:solidFill>
                    <a:schemeClr val="tx1"/>
                  </a:solidFill>
                </a:rPr>
                <a:t>建筑</a:t>
              </a:r>
              <a:r>
                <a:rPr lang="en-US" altLang="zh-CN" sz="300">
                  <a:solidFill>
                    <a:schemeClr val="tx1"/>
                  </a:solidFill>
                </a:rPr>
                <a:t>1</a:t>
              </a:r>
              <a:endParaRPr lang="en-US" altLang="zh-CN" sz="300">
                <a:solidFill>
                  <a:schemeClr val="tx1"/>
                </a:solidFill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2126" y="8101"/>
              <a:ext cx="1094" cy="37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300">
                  <a:solidFill>
                    <a:schemeClr val="tx1"/>
                  </a:solidFill>
                </a:rPr>
                <a:t>楼层</a:t>
              </a:r>
              <a:r>
                <a:rPr lang="en-US" altLang="zh-CN" sz="300">
                  <a:solidFill>
                    <a:schemeClr val="tx1"/>
                  </a:solidFill>
                </a:rPr>
                <a:t>1</a:t>
              </a:r>
              <a:endParaRPr lang="en-US" altLang="zh-CN" sz="300">
                <a:solidFill>
                  <a:schemeClr val="tx1"/>
                </a:solidFill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2113" y="7801"/>
              <a:ext cx="4" cy="709"/>
            </a:xfrm>
            <a:prstGeom prst="line">
              <a:avLst/>
            </a:prstGeom>
            <a:ln>
              <a:solidFill>
                <a:srgbClr val="FAFAF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>
              <a:off x="2113" y="8672"/>
              <a:ext cx="1094" cy="371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300">
                  <a:solidFill>
                    <a:schemeClr val="tx1"/>
                  </a:solidFill>
                </a:rPr>
                <a:t>楼层</a:t>
              </a:r>
              <a:r>
                <a:rPr lang="en-US" altLang="zh-CN" sz="300">
                  <a:solidFill>
                    <a:schemeClr val="tx1"/>
                  </a:solidFill>
                </a:rPr>
                <a:t>2</a:t>
              </a:r>
              <a:endParaRPr lang="en-US" altLang="zh-CN" sz="300">
                <a:solidFill>
                  <a:schemeClr val="tx1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5035" y="3358"/>
              <a:ext cx="1278" cy="6993"/>
            </a:xfrm>
            <a:prstGeom prst="rect">
              <a:avLst/>
            </a:prstGeom>
            <a:solidFill>
              <a:schemeClr val="accent3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800">
                  <a:solidFill>
                    <a:schemeClr val="tx1"/>
                  </a:solidFill>
                </a:rPr>
                <a:t>监狱</a:t>
              </a:r>
              <a:r>
                <a:rPr lang="en-US" altLang="zh-CN" sz="800">
                  <a:solidFill>
                    <a:schemeClr val="tx1"/>
                  </a:solidFill>
                </a:rPr>
                <a:t>1</a:t>
              </a:r>
              <a:endParaRPr lang="en-US" altLang="zh-CN" sz="800">
                <a:solidFill>
                  <a:schemeClr val="tx1"/>
                </a:solidFill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6308" y="3358"/>
              <a:ext cx="1278" cy="3580"/>
            </a:xfrm>
            <a:prstGeom prst="rect">
              <a:avLst/>
            </a:prstGeom>
            <a:solidFill>
              <a:schemeClr val="accent3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700">
                  <a:solidFill>
                    <a:schemeClr val="tx1"/>
                  </a:solidFill>
                </a:rPr>
                <a:t>建筑</a:t>
              </a:r>
              <a:r>
                <a:rPr lang="en-US" altLang="zh-CN" sz="700">
                  <a:solidFill>
                    <a:schemeClr val="tx1"/>
                  </a:solidFill>
                </a:rPr>
                <a:t>1</a:t>
              </a:r>
              <a:endParaRPr lang="en-US" altLang="zh-CN" sz="700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6308" y="6938"/>
              <a:ext cx="1278" cy="3413"/>
            </a:xfrm>
            <a:prstGeom prst="rect">
              <a:avLst/>
            </a:prstGeom>
            <a:solidFill>
              <a:schemeClr val="accent3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700">
                  <a:solidFill>
                    <a:schemeClr val="tx1"/>
                  </a:solidFill>
                </a:rPr>
                <a:t>建筑</a:t>
              </a:r>
              <a:r>
                <a:rPr lang="en-US" altLang="zh-CN" sz="700">
                  <a:solidFill>
                    <a:schemeClr val="tx1"/>
                  </a:solidFill>
                </a:rPr>
                <a:t>2</a:t>
              </a:r>
              <a:endParaRPr lang="en-US" altLang="zh-CN" sz="700">
                <a:solidFill>
                  <a:schemeClr val="tx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7586" y="3358"/>
              <a:ext cx="1278" cy="3580"/>
            </a:xfrm>
            <a:prstGeom prst="rect">
              <a:avLst/>
            </a:prstGeom>
            <a:solidFill>
              <a:schemeClr val="accent3">
                <a:lumMod val="75000"/>
                <a:alpha val="32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600">
                  <a:solidFill>
                    <a:schemeClr val="tx1"/>
                  </a:solidFill>
                </a:rPr>
                <a:t>楼层</a:t>
              </a:r>
              <a:r>
                <a:rPr lang="en-US" altLang="zh-CN" sz="600">
                  <a:solidFill>
                    <a:schemeClr val="tx1"/>
                  </a:solidFill>
                </a:rPr>
                <a:t>1</a:t>
              </a:r>
              <a:endParaRPr lang="en-US" altLang="zh-CN" sz="600">
                <a:solidFill>
                  <a:schemeClr val="tx1"/>
                </a:solidFill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6258" y="9043"/>
              <a:ext cx="1328" cy="1349"/>
              <a:chOff x="6230" y="7250"/>
              <a:chExt cx="1328" cy="1349"/>
            </a:xfrm>
          </p:grpSpPr>
          <p:pic>
            <p:nvPicPr>
              <p:cNvPr id="65" name="图片 64" descr="方框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370" y="7250"/>
                <a:ext cx="361" cy="361"/>
              </a:xfrm>
              <a:prstGeom prst="rect">
                <a:avLst/>
              </a:prstGeom>
            </p:spPr>
          </p:pic>
          <p:pic>
            <p:nvPicPr>
              <p:cNvPr id="66" name="图片 65" descr="方框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924" y="7250"/>
                <a:ext cx="361" cy="361"/>
              </a:xfrm>
              <a:prstGeom prst="rect">
                <a:avLst/>
              </a:prstGeom>
            </p:spPr>
          </p:pic>
          <p:sp>
            <p:nvSpPr>
              <p:cNvPr id="67" name="文本框 66"/>
              <p:cNvSpPr txBox="1"/>
              <p:nvPr/>
            </p:nvSpPr>
            <p:spPr>
              <a:xfrm>
                <a:off x="6230" y="7611"/>
                <a:ext cx="1328" cy="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sz="400"/>
                  <a:t>全开</a:t>
                </a:r>
                <a:r>
                  <a:rPr lang="en-US" altLang="zh-CN" sz="400"/>
                  <a:t>   </a:t>
                </a:r>
                <a:r>
                  <a:rPr lang="zh-CN" altLang="en-US" sz="400"/>
                  <a:t>全关</a:t>
                </a:r>
                <a:endParaRPr lang="zh-CN" altLang="en-US" sz="400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5035" y="7267"/>
              <a:ext cx="1328" cy="1349"/>
              <a:chOff x="6230" y="7250"/>
              <a:chExt cx="1328" cy="1349"/>
            </a:xfrm>
          </p:grpSpPr>
          <p:pic>
            <p:nvPicPr>
              <p:cNvPr id="55" name="图片 54" descr="方框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370" y="7250"/>
                <a:ext cx="361" cy="361"/>
              </a:xfrm>
              <a:prstGeom prst="rect">
                <a:avLst/>
              </a:prstGeom>
            </p:spPr>
          </p:pic>
          <p:pic>
            <p:nvPicPr>
              <p:cNvPr id="56" name="图片 55" descr="方框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924" y="7250"/>
                <a:ext cx="361" cy="361"/>
              </a:xfrm>
              <a:prstGeom prst="rect">
                <a:avLst/>
              </a:prstGeom>
            </p:spPr>
          </p:pic>
          <p:sp>
            <p:nvSpPr>
              <p:cNvPr id="58" name="文本框 57"/>
              <p:cNvSpPr txBox="1"/>
              <p:nvPr/>
            </p:nvSpPr>
            <p:spPr>
              <a:xfrm>
                <a:off x="6230" y="7611"/>
                <a:ext cx="1328" cy="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sz="400"/>
                  <a:t>全开</a:t>
                </a:r>
                <a:r>
                  <a:rPr lang="en-US" altLang="zh-CN" sz="400"/>
                  <a:t>   </a:t>
                </a:r>
                <a:r>
                  <a:rPr lang="zh-CN" altLang="en-US" sz="400"/>
                  <a:t>全关</a:t>
                </a:r>
                <a:endParaRPr lang="zh-CN" altLang="en-US" sz="400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6313" y="5586"/>
              <a:ext cx="1328" cy="1349"/>
              <a:chOff x="6230" y="7250"/>
              <a:chExt cx="1328" cy="1349"/>
            </a:xfrm>
          </p:grpSpPr>
          <p:pic>
            <p:nvPicPr>
              <p:cNvPr id="60" name="图片 59" descr="方框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370" y="7250"/>
                <a:ext cx="361" cy="361"/>
              </a:xfrm>
              <a:prstGeom prst="rect">
                <a:avLst/>
              </a:prstGeom>
            </p:spPr>
          </p:pic>
          <p:pic>
            <p:nvPicPr>
              <p:cNvPr id="61" name="图片 60" descr="方框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924" y="7250"/>
                <a:ext cx="361" cy="361"/>
              </a:xfrm>
              <a:prstGeom prst="rect">
                <a:avLst/>
              </a:prstGeom>
            </p:spPr>
          </p:pic>
          <p:sp>
            <p:nvSpPr>
              <p:cNvPr id="62" name="文本框 61"/>
              <p:cNvSpPr txBox="1"/>
              <p:nvPr/>
            </p:nvSpPr>
            <p:spPr>
              <a:xfrm>
                <a:off x="6230" y="7611"/>
                <a:ext cx="1328" cy="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sz="400"/>
                  <a:t>全开</a:t>
                </a:r>
                <a:r>
                  <a:rPr lang="en-US" altLang="zh-CN" sz="400"/>
                  <a:t>   </a:t>
                </a:r>
                <a:r>
                  <a:rPr lang="zh-CN" altLang="en-US" sz="400"/>
                  <a:t>全关</a:t>
                </a:r>
                <a:endParaRPr lang="zh-CN" altLang="en-US" sz="400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7586" y="5586"/>
              <a:ext cx="1328" cy="1349"/>
              <a:chOff x="6230" y="7250"/>
              <a:chExt cx="1328" cy="1349"/>
            </a:xfrm>
          </p:grpSpPr>
          <p:pic>
            <p:nvPicPr>
              <p:cNvPr id="68" name="图片 67" descr="方框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370" y="7250"/>
                <a:ext cx="361" cy="361"/>
              </a:xfrm>
              <a:prstGeom prst="rect">
                <a:avLst/>
              </a:prstGeom>
            </p:spPr>
          </p:pic>
          <p:pic>
            <p:nvPicPr>
              <p:cNvPr id="70" name="图片 69" descr="方框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924" y="7250"/>
                <a:ext cx="361" cy="361"/>
              </a:xfrm>
              <a:prstGeom prst="rect">
                <a:avLst/>
              </a:prstGeom>
            </p:spPr>
          </p:pic>
          <p:sp>
            <p:nvSpPr>
              <p:cNvPr id="78" name="文本框 77"/>
              <p:cNvSpPr txBox="1"/>
              <p:nvPr/>
            </p:nvSpPr>
            <p:spPr>
              <a:xfrm>
                <a:off x="6230" y="7611"/>
                <a:ext cx="1328" cy="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sz="400"/>
                  <a:t>全开</a:t>
                </a:r>
                <a:r>
                  <a:rPr lang="en-US" altLang="zh-CN" sz="400"/>
                  <a:t>   </a:t>
                </a:r>
                <a:r>
                  <a:rPr lang="zh-CN" altLang="en-US" sz="400"/>
                  <a:t>全关</a:t>
                </a:r>
                <a:endParaRPr lang="zh-CN" altLang="en-US" sz="400"/>
              </a:p>
            </p:txBody>
          </p:sp>
        </p:grpSp>
      </p:grpSp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第五部分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4800"/>
              <a:t>统计</a:t>
            </a:r>
            <a:endParaRPr lang="zh-CN" altLang="en-US" sz="4800"/>
          </a:p>
        </p:txBody>
      </p:sp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580880" y="168910"/>
            <a:ext cx="2134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2640" y="1054735"/>
            <a:ext cx="994283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按照日期段、位置属性选择（全局、地区、监狱、建筑物、楼层）、设备属性（所有，设备名称，设备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ID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），选择匹配数据类型，搜索导出统计数据图。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35875" y="196850"/>
            <a:ext cx="137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1165" y="1461770"/>
            <a:ext cx="2698115" cy="5396230"/>
          </a:xfrm>
          <a:prstGeom prst="rect">
            <a:avLst/>
          </a:prstGeom>
          <a:solidFill>
            <a:schemeClr val="accent1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Statistic</a:t>
            </a:r>
            <a:endParaRPr lang="en-US"/>
          </a:p>
          <a:p>
            <a:pPr algn="ctr"/>
            <a:r>
              <a:rPr lang="zh-CN" altLang="en-US"/>
              <a:t>有背景图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241040" y="1598295"/>
            <a:ext cx="11036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搜索条件</a:t>
            </a:r>
            <a:endParaRPr 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241040" y="1982470"/>
            <a:ext cx="79101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日期</a:t>
            </a:r>
            <a:r>
              <a:rPr lang="en-US" altLang="zh-CN" sz="1200"/>
              <a:t> </a:t>
            </a:r>
            <a:r>
              <a:rPr lang="zh-CN" altLang="en-US" sz="1200"/>
              <a:t>（年，月，日，时）</a:t>
            </a:r>
            <a:r>
              <a:rPr lang="en-US" altLang="zh-CN" sz="1200"/>
              <a:t>---  </a:t>
            </a:r>
            <a:r>
              <a:rPr lang="zh-CN" altLang="en-US" sz="1200"/>
              <a:t>（年，月，日，时）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省份，监狱，楼层搜索项</a:t>
            </a:r>
            <a:r>
              <a:rPr lang="en-US" altLang="zh-CN" sz="1200"/>
              <a:t> </a:t>
            </a:r>
            <a:r>
              <a:rPr lang="zh-CN" altLang="en-US" sz="1200"/>
              <a:t>（可选项，包含全国，省份，监狱，但是对应账号权限要匹配，且对应相关省份和监狱要对应，比如选了利雅得省，那么后面监狱选择就只有这个省份的监狱。）</a:t>
            </a:r>
            <a:endParaRPr lang="zh-CN" altLang="en-US" sz="1200"/>
          </a:p>
          <a:p>
            <a:endParaRPr lang="zh-CN" altLang="en-US" sz="1200"/>
          </a:p>
        </p:txBody>
      </p:sp>
      <p:pic>
        <p:nvPicPr>
          <p:cNvPr id="11" name="图片 10"/>
          <p:cNvPicPr/>
          <p:nvPr/>
        </p:nvPicPr>
        <p:blipFill>
          <a:blip r:embed="rId2"/>
          <a:srcRect t="17659"/>
          <a:stretch>
            <a:fillRect/>
          </a:stretch>
        </p:blipFill>
        <p:spPr>
          <a:xfrm>
            <a:off x="3363595" y="2854325"/>
            <a:ext cx="6105525" cy="24930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363595" y="5451475"/>
            <a:ext cx="831723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Calibri" panose="020F0502020204030204"/>
                <a:ea typeface="宋体" panose="02010600030101010101" pitchFamily="2" charset="-122"/>
              </a:rPr>
              <a:t>数据统计报表分为如下几种形式：</a:t>
            </a:r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Calibri" panose="020F0502020204030204"/>
                <a:ea typeface="宋体" panose="02010600030101010101" pitchFamily="2" charset="-122"/>
              </a:rPr>
              <a:t>数据类型</a:t>
            </a:r>
            <a:r>
              <a:rPr lang="en-US" altLang="zh-CN" sz="1200">
                <a:latin typeface="Calibri" panose="020F0502020204030204"/>
                <a:ea typeface="Calibri" panose="020F0502020204030204"/>
              </a:rPr>
              <a:t>1</a:t>
            </a:r>
            <a:r>
              <a:rPr lang="zh-CN" altLang="en-US" sz="1200">
                <a:latin typeface="Calibri" panose="020F0502020204030204"/>
                <a:ea typeface="宋体" panose="02010600030101010101" pitchFamily="2" charset="-122"/>
              </a:rPr>
              <a:t>时长统计：显示在线设备总时长，不在线设备总时长，故障设备总时长以及三项所占百分比。</a:t>
            </a:r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Calibri" panose="020F0502020204030204"/>
                <a:ea typeface="宋体" panose="02010600030101010101" pitchFamily="2" charset="-122"/>
              </a:rPr>
              <a:t>数据类型</a:t>
            </a:r>
            <a:r>
              <a:rPr lang="en-US" altLang="zh-CN" sz="1200">
                <a:latin typeface="Calibri" panose="020F0502020204030204"/>
                <a:ea typeface="Calibri" panose="020F0502020204030204"/>
              </a:rPr>
              <a:t>2</a:t>
            </a:r>
            <a:r>
              <a:rPr lang="zh-CN" altLang="en-US" sz="1200">
                <a:latin typeface="Calibri" panose="020F0502020204030204"/>
                <a:ea typeface="宋体" panose="02010600030101010101" pitchFamily="2" charset="-122"/>
              </a:rPr>
              <a:t>运行时长：设备平均正常运行时长，设备平均不在线运行时长，设备平均故障时长。</a:t>
            </a:r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Calibri" panose="020F0502020204030204"/>
                <a:ea typeface="宋体" panose="02010600030101010101" pitchFamily="2" charset="-122"/>
              </a:rPr>
              <a:t>数据类型</a:t>
            </a:r>
            <a:r>
              <a:rPr lang="en-US" altLang="zh-CN" sz="1200">
                <a:latin typeface="Calibri" panose="020F0502020204030204"/>
                <a:ea typeface="Calibri" panose="020F0502020204030204"/>
              </a:rPr>
              <a:t>3</a:t>
            </a:r>
            <a:r>
              <a:rPr lang="zh-CN" altLang="en-US" sz="1200">
                <a:latin typeface="Calibri" panose="020F0502020204030204"/>
                <a:ea typeface="宋体" panose="02010600030101010101" pitchFamily="2" charset="-122"/>
              </a:rPr>
              <a:t>故障类型统计：设备故障类型总时长，有故障类型划分百分比。</a:t>
            </a:r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第六部分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4800"/>
              <a:t>日志</a:t>
            </a:r>
            <a:endParaRPr lang="zh-CN" altLang="en-US" sz="4800"/>
          </a:p>
        </p:txBody>
      </p:sp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580880" y="168910"/>
            <a:ext cx="2134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30485" y="168910"/>
            <a:ext cx="167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791575" y="182880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Report </a:t>
            </a:r>
            <a:r>
              <a:rPr lang="zh-CN" altLang="en-US"/>
              <a:t>图标</a:t>
            </a: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31165" y="973455"/>
            <a:ext cx="8195945" cy="433070"/>
            <a:chOff x="679" y="1533"/>
            <a:chExt cx="12907" cy="682"/>
          </a:xfrm>
        </p:grpSpPr>
        <p:sp>
          <p:nvSpPr>
            <p:cNvPr id="7" name="矩形 6"/>
            <p:cNvSpPr/>
            <p:nvPr/>
          </p:nvSpPr>
          <p:spPr>
            <a:xfrm>
              <a:off x="67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省份</a:t>
              </a:r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84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用户管理</a:t>
              </a:r>
              <a:endParaRPr 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9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设备管理</a:t>
              </a:r>
              <a:endParaRPr 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7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告警</a:t>
              </a:r>
              <a:endParaRPr 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9" y="1533"/>
              <a:ext cx="2083" cy="682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数据统计</a:t>
              </a:r>
              <a:endParaRPr 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04" y="1533"/>
              <a:ext cx="2083" cy="682"/>
            </a:xfrm>
            <a:prstGeom prst="rect">
              <a:avLst/>
            </a:prstGeom>
            <a:solidFill>
              <a:schemeClr val="accent4">
                <a:lumMod val="75000"/>
                <a:alpha val="61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/>
                <a:t>日志</a:t>
              </a:r>
              <a:endParaRPr lang="zh-CN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81600" y="429260"/>
            <a:ext cx="2819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highlight>
                  <a:srgbClr val="FF0000"/>
                </a:highlight>
              </a:rPr>
              <a:t>加入路径</a:t>
            </a:r>
            <a:endParaRPr lang="zh-CN" sz="1400">
              <a:highlight>
                <a:srgbClr val="FF0000"/>
              </a:highligh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1165" y="1461770"/>
            <a:ext cx="2698115" cy="5396230"/>
          </a:xfrm>
          <a:prstGeom prst="rect">
            <a:avLst/>
          </a:prstGeom>
          <a:solidFill>
            <a:schemeClr val="accent1">
              <a:lumMod val="75000"/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日志</a:t>
            </a:r>
            <a:endParaRPr lang="zh-CN" altLang="en-US"/>
          </a:p>
          <a:p>
            <a:pPr algn="ctr"/>
            <a:r>
              <a:rPr lang="zh-CN" altLang="en-US"/>
              <a:t>有背景图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260725" y="1755775"/>
            <a:ext cx="75545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Calibri" panose="020F0502020204030204"/>
                <a:ea typeface="宋体" panose="02010600030101010101" pitchFamily="2" charset="-122"/>
                <a:sym typeface="+mn-ea"/>
              </a:rPr>
              <a:t>从登陆开始，对客户端的所有操作，对应记录为列表。每条日志包含操作员账号名、操作内容、时间等</a:t>
            </a:r>
            <a:r>
              <a:rPr lang="en-US" altLang="zh-CN" sz="1200">
                <a:latin typeface="Calibri" panose="020F0502020204030204"/>
                <a:ea typeface="宋体" panose="02010600030101010101" pitchFamily="2" charset="-122"/>
                <a:sym typeface="+mn-ea"/>
              </a:rPr>
              <a:t>......</a:t>
            </a:r>
            <a:endParaRPr lang="en-US" altLang="zh-CN" sz="1200"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zh-CN" sz="1200"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Calibri" panose="020F0502020204030204"/>
                <a:ea typeface="宋体" panose="02010600030101010101" pitchFamily="2" charset="-122"/>
                <a:sym typeface="+mn-ea"/>
              </a:rPr>
              <a:t>同时加入搜索功能，按照省，监狱级别筛选</a:t>
            </a:r>
            <a:endParaRPr lang="zh-CN" altLang="en-US" sz="120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4" name="图片 13"/>
          <p:cNvPicPr/>
          <p:nvPr/>
        </p:nvPicPr>
        <p:blipFill>
          <a:blip r:embed="rId2"/>
          <a:srcRect t="17128"/>
          <a:stretch>
            <a:fillRect/>
          </a:stretch>
        </p:blipFill>
        <p:spPr>
          <a:xfrm>
            <a:off x="3583305" y="2853690"/>
            <a:ext cx="6908800" cy="30232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第</a:t>
            </a:r>
            <a:r>
              <a:rPr lang="zh-CN" altLang="zh-CN"/>
              <a:t>七部分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4800"/>
              <a:t>程序工具和</a:t>
            </a:r>
            <a:r>
              <a:rPr lang="zh-CN" altLang="en-US" sz="4800"/>
              <a:t>文档</a:t>
            </a:r>
            <a:endParaRPr lang="zh-CN" altLang="en-US" sz="4800"/>
          </a:p>
        </p:txBody>
      </p:sp>
      <p:sp>
        <p:nvSpPr>
          <p:cNvPr id="4" name="文本框 3"/>
          <p:cNvSpPr txBox="1"/>
          <p:nvPr/>
        </p:nvSpPr>
        <p:spPr>
          <a:xfrm>
            <a:off x="1198880" y="367665"/>
            <a:ext cx="389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Srill Jamming Management System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580880" y="168910"/>
            <a:ext cx="2134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login out </a:t>
            </a:r>
            <a:r>
              <a:rPr lang="zh-CN" altLang="en-US"/>
              <a:t>图标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68910"/>
            <a:ext cx="804545" cy="8045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802640" y="1054735"/>
            <a:ext cx="994283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程序调测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Log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输出，可以分为不同等级，输出不同级别故障排查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log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，如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iOFF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FATAL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ERROR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WARN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INFO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DEBUG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TRACE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，用于定位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问题。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2640" y="2055495"/>
            <a:ext cx="994283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数据库自动备份工具，可以根据设置的周期自动备份数据。如遇到问题，可以恢复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数据。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2640" y="3891915"/>
            <a:ext cx="994283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请提供软件操作手册，用于终端客户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手册。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2640" y="3028950"/>
            <a:ext cx="994283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程序安装和后台操作使用操作手册，描述如何部署配置，后台观察业务状态，对业务进行停止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/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启动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/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重启等操作，用于工程师后台维护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系统。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19987099],&quot;65&quot;:[20205081]}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21564860,21564865],&quot;65&quot;:[20205081]}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20288393,19986156],&quot;65&quot;:[20205081]}"/>
</p:tagLst>
</file>

<file path=ppt/tags/tag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20288393,19986156],&quot;65&quot;:[20205081]}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20288393,19986156],&quot;65&quot;:[20205081]}"/>
</p:tagLst>
</file>

<file path=ppt/tags/tag9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20288393,19986156],&quot;65&quot;:[20205081]}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resource_record_key" val="{&quot;10&quot;:[20288393,19986156,21564860,21564865,19987099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9458</Words>
  <Application>WPS 演示</Application>
  <PresentationFormat>宽屏</PresentationFormat>
  <Paragraphs>1317</Paragraphs>
  <Slides>33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Wingdings</vt:lpstr>
      <vt:lpstr>等线</vt:lpstr>
      <vt:lpstr>Calibri</vt:lpstr>
      <vt:lpstr>微软雅黑</vt:lpstr>
      <vt:lpstr>Arial Unicode MS</vt:lpstr>
      <vt:lpstr>Times New Roman</vt:lpstr>
      <vt:lpstr>WPS</vt:lpstr>
      <vt:lpstr>Srill屏蔽系统软件需求</vt:lpstr>
      <vt:lpstr>PowerPoint 演示文稿</vt:lpstr>
      <vt:lpstr>PowerPoint 演示文稿</vt:lpstr>
      <vt:lpstr>PowerPoint 演示文稿</vt:lpstr>
      <vt:lpstr>PowerPoint 演示文稿</vt:lpstr>
      <vt:lpstr>第一部分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第二部分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第三部分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第四部分</vt:lpstr>
      <vt:lpstr>PowerPoint 演示文稿</vt:lpstr>
      <vt:lpstr>第五部分</vt:lpstr>
      <vt:lpstr>PowerPoint 演示文稿</vt:lpstr>
      <vt:lpstr>PowerPoint 演示文稿</vt:lpstr>
      <vt:lpstr>第六部分</vt:lpstr>
      <vt:lpstr>PowerPoint 演示文稿</vt:lpstr>
      <vt:lpstr>第七部分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205</cp:revision>
  <dcterms:created xsi:type="dcterms:W3CDTF">2019-06-19T02:08:00Z</dcterms:created>
  <dcterms:modified xsi:type="dcterms:W3CDTF">2025-10-24T07:23:19Z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EE65630BD77547E48FEE6193DF6E5C26_13</vt:lpwstr>
  </property>
</Properties>
</file>